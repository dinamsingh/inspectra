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1 hero 2"/>
          <p:cNvSpPr txBox="1"/>
          <p:nvPr/>
        </p:nvSpPr>
        <p:spPr>
          <a:xfrm>
            <a:off x="0" y="279400"/>
            <a:ext cx="9740900" cy="7283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3100" b="1" dirty="0">
                <a:solidFill>
                  <a:srgbClr val="1F4E79"/>
                </a:solidFill>
                <a:latin typeface="Times New Roman"/>
                <a:cs typeface="Times New Roman"/>
              </a:rPr>
              <a:t>SMART INDIA HACKATHON 2026</a:t>
            </a:r>
          </a:p>
        </p:txBody>
      </p:sp>
      <p:sp>
        <p:nvSpPr>
          <p:cNvPr id="3" name="s1 sub 3"/>
          <p:cNvSpPr txBox="1"/>
          <p:nvPr/>
        </p:nvSpPr>
        <p:spPr>
          <a:xfrm>
            <a:off x="279400" y="914400"/>
            <a:ext cx="7099300" cy="5168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2200" b="1" dirty="0">
                <a:solidFill>
                  <a:srgbClr val="333333"/>
                </a:solidFill>
                <a:latin typeface="Times New Roman"/>
                <a:cs typeface="Times New Roman"/>
              </a:rPr>
              <a:t>TITLE PAGE</a:t>
            </a:r>
          </a:p>
        </p:txBody>
      </p:sp>
      <p:sp>
        <p:nvSpPr>
          <p:cNvPr id="4" name="s1 page 4"/>
          <p:cNvSpPr txBox="1"/>
          <p:nvPr/>
        </p:nvSpPr>
        <p:spPr>
          <a:xfrm>
            <a:off x="11684000" y="6578600"/>
            <a:ext cx="342900" cy="2232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lang="en-IN" sz="950" b="0" dirty="0">
                <a:solidFill>
                  <a:srgbClr val="5A6672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chrome mark rule 5"/>
          <p:cNvSpPr/>
          <p:nvPr/>
        </p:nvSpPr>
        <p:spPr>
          <a:xfrm>
            <a:off x="9855200" y="203200"/>
            <a:ext cx="17780" cy="533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chrome mark1 6"/>
          <p:cNvSpPr txBox="1"/>
          <p:nvPr/>
        </p:nvSpPr>
        <p:spPr>
          <a:xfrm>
            <a:off x="10007600" y="2032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5B8DB8"/>
                </a:solidFill>
                <a:latin typeface="Arial"/>
                <a:cs typeface="Arial"/>
              </a:rPr>
              <a:t>SMART INDIA</a:t>
            </a:r>
          </a:p>
        </p:txBody>
      </p:sp>
      <p:sp>
        <p:nvSpPr>
          <p:cNvPr id="7" name="chrome mark2 7"/>
          <p:cNvSpPr txBox="1"/>
          <p:nvPr/>
        </p:nvSpPr>
        <p:spPr>
          <a:xfrm>
            <a:off x="10007600" y="3810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HACKATHON</a:t>
            </a:r>
          </a:p>
        </p:txBody>
      </p:sp>
      <p:sp>
        <p:nvSpPr>
          <p:cNvPr id="8" name="chrome mark3 8"/>
          <p:cNvSpPr txBox="1"/>
          <p:nvPr/>
        </p:nvSpPr>
        <p:spPr>
          <a:xfrm>
            <a:off x="10007600" y="5588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2026</a:t>
            </a:r>
          </a:p>
        </p:txBody>
      </p:sp>
      <p:sp>
        <p:nvSpPr>
          <p:cNvPr id="9" name="dot 9"/>
          <p:cNvSpPr/>
          <p:nvPr/>
        </p:nvSpPr>
        <p:spPr>
          <a:xfrm>
            <a:off x="279400" y="1562100"/>
            <a:ext cx="57150" cy="5715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57200" y="1498600"/>
            <a:ext cx="1770695" cy="2913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40" b="1" dirty="0">
                <a:solidFill>
                  <a:srgbClr val="333333"/>
                </a:solidFill>
                <a:latin typeface="Arial"/>
                <a:cs typeface="Arial"/>
              </a:rPr>
              <a:t>Problem Statement ID-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189795" y="1498600"/>
            <a:ext cx="5366705" cy="302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IN" sz="1240" b="0" dirty="0">
                <a:solidFill>
                  <a:srgbClr val="333333"/>
                </a:solidFill>
                <a:latin typeface="Arial"/>
                <a:cs typeface="Arial"/>
              </a:rPr>
              <a:t>SIH26034</a:t>
            </a:r>
          </a:p>
        </p:txBody>
      </p:sp>
      <p:sp>
        <p:nvSpPr>
          <p:cNvPr id="12" name="dot 12"/>
          <p:cNvSpPr/>
          <p:nvPr/>
        </p:nvSpPr>
        <p:spPr>
          <a:xfrm>
            <a:off x="279400" y="1960474"/>
            <a:ext cx="57150" cy="5715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57200" y="1896974"/>
            <a:ext cx="1936994" cy="2913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40" b="1" dirty="0">
                <a:solidFill>
                  <a:srgbClr val="333333"/>
                </a:solidFill>
                <a:latin typeface="Arial"/>
                <a:cs typeface="Arial"/>
              </a:rPr>
              <a:t>Problem Statement Title-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356094" y="1896974"/>
            <a:ext cx="5200406" cy="7181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IN" sz="1240" b="0" dirty="0">
                <a:solidFill>
                  <a:srgbClr val="333333"/>
                </a:solidFill>
                <a:latin typeface="Arial"/>
                <a:cs typeface="Arial"/>
              </a:rPr>
              <a:t>Software System to check compliance of Packaged Commodities under</a:t>
            </a:r>
          </a:p>
          <a:p>
            <a:pPr algn="l">
              <a:lnSpc>
                <a:spcPct val="132000"/>
              </a:lnSpc>
            </a:pPr>
            <a:r>
              <a:rPr lang="en-IN" sz="1240" b="0" dirty="0">
                <a:solidFill>
                  <a:srgbClr val="333333"/>
                </a:solidFill>
                <a:latin typeface="Arial"/>
                <a:cs typeface="Arial"/>
              </a:rPr>
              <a:t>Legal Metrology (Packaged Commodities) Rules, 2011 by scanning</a:t>
            </a:r>
          </a:p>
          <a:p>
            <a:pPr algn="l">
              <a:lnSpc>
                <a:spcPct val="132000"/>
              </a:lnSpc>
            </a:pPr>
            <a:r>
              <a:rPr lang="en-IN" sz="1240" b="0" dirty="0">
                <a:solidFill>
                  <a:srgbClr val="333333"/>
                </a:solidFill>
                <a:latin typeface="Arial"/>
                <a:cs typeface="Arial"/>
              </a:rPr>
              <a:t>products, images and labels.</a:t>
            </a:r>
          </a:p>
        </p:txBody>
      </p:sp>
      <p:sp>
        <p:nvSpPr>
          <p:cNvPr id="15" name="dot 15"/>
          <p:cNvSpPr/>
          <p:nvPr/>
        </p:nvSpPr>
        <p:spPr>
          <a:xfrm>
            <a:off x="279400" y="2774594"/>
            <a:ext cx="57150" cy="5715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457200" y="2711094"/>
            <a:ext cx="641878" cy="2913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40" b="1" dirty="0">
                <a:solidFill>
                  <a:srgbClr val="333333"/>
                </a:solidFill>
                <a:latin typeface="Arial"/>
                <a:cs typeface="Arial"/>
              </a:rPr>
              <a:t>Theme-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060978" y="2711094"/>
            <a:ext cx="6495522" cy="302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IN" sz="1240" b="0" dirty="0">
                <a:solidFill>
                  <a:srgbClr val="333333"/>
                </a:solidFill>
                <a:latin typeface="Arial"/>
                <a:cs typeface="Arial"/>
              </a:rPr>
              <a:t>‹Theme as listed on the SIH portal›</a:t>
            </a:r>
          </a:p>
        </p:txBody>
      </p:sp>
      <p:sp>
        <p:nvSpPr>
          <p:cNvPr id="18" name="dot 18"/>
          <p:cNvSpPr/>
          <p:nvPr/>
        </p:nvSpPr>
        <p:spPr>
          <a:xfrm>
            <a:off x="279400" y="3172968"/>
            <a:ext cx="57150" cy="5715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57200" y="3109468"/>
            <a:ext cx="1070696" cy="2913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40" b="1" dirty="0">
                <a:solidFill>
                  <a:srgbClr val="333333"/>
                </a:solidFill>
                <a:latin typeface="Arial"/>
                <a:cs typeface="Arial"/>
              </a:rPr>
              <a:t>PS Category-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489796" y="3109468"/>
            <a:ext cx="6066704" cy="302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IN" sz="1240" b="0" dirty="0">
                <a:solidFill>
                  <a:srgbClr val="333333"/>
                </a:solidFill>
                <a:latin typeface="Arial"/>
                <a:cs typeface="Arial"/>
              </a:rPr>
              <a:t>Software</a:t>
            </a:r>
          </a:p>
        </p:txBody>
      </p:sp>
      <p:sp>
        <p:nvSpPr>
          <p:cNvPr id="21" name="dot 21"/>
          <p:cNvSpPr/>
          <p:nvPr/>
        </p:nvSpPr>
        <p:spPr>
          <a:xfrm>
            <a:off x="279400" y="3571342"/>
            <a:ext cx="57150" cy="5715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457200" y="3507842"/>
            <a:ext cx="746917" cy="2913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40" b="1" dirty="0">
                <a:solidFill>
                  <a:srgbClr val="333333"/>
                </a:solidFill>
                <a:latin typeface="Arial"/>
                <a:cs typeface="Arial"/>
              </a:rPr>
              <a:t>Team ID-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166017" y="3507842"/>
            <a:ext cx="6390483" cy="302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IN" sz="1240" b="0" dirty="0">
                <a:solidFill>
                  <a:srgbClr val="333333"/>
                </a:solidFill>
                <a:latin typeface="Arial"/>
                <a:cs typeface="Arial"/>
              </a:rPr>
              <a:t>‹Team ID›</a:t>
            </a:r>
          </a:p>
        </p:txBody>
      </p:sp>
      <p:sp>
        <p:nvSpPr>
          <p:cNvPr id="24" name="dot 24"/>
          <p:cNvSpPr/>
          <p:nvPr/>
        </p:nvSpPr>
        <p:spPr>
          <a:xfrm>
            <a:off x="279400" y="3969715"/>
            <a:ext cx="57150" cy="5715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457200" y="3906215"/>
            <a:ext cx="2698252" cy="2913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40" b="1" dirty="0">
                <a:solidFill>
                  <a:srgbClr val="333333"/>
                </a:solidFill>
                <a:latin typeface="Arial"/>
                <a:cs typeface="Arial"/>
              </a:rPr>
              <a:t>Team Name (Registered on portal)-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3117352" y="3906215"/>
            <a:ext cx="4439148" cy="3023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IN" sz="1240" b="0" dirty="0">
                <a:solidFill>
                  <a:srgbClr val="333333"/>
                </a:solidFill>
                <a:latin typeface="Arial"/>
                <a:cs typeface="Arial"/>
              </a:rPr>
              <a:t>‹Team name as registered›</a:t>
            </a:r>
          </a:p>
        </p:txBody>
      </p:sp>
      <p:sp>
        <p:nvSpPr>
          <p:cNvPr id="27" name="s1 rule 27"/>
          <p:cNvSpPr/>
          <p:nvPr/>
        </p:nvSpPr>
        <p:spPr>
          <a:xfrm>
            <a:off x="279400" y="5740400"/>
            <a:ext cx="7061200" cy="1524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1 tag 28"/>
          <p:cNvSpPr txBox="1"/>
          <p:nvPr/>
        </p:nvSpPr>
        <p:spPr>
          <a:xfrm>
            <a:off x="279400" y="5867400"/>
            <a:ext cx="7099300" cy="4279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IN" sz="1040" b="0" dirty="0">
                <a:solidFill>
                  <a:srgbClr val="5A6672"/>
                </a:solidFill>
                <a:latin typeface="Arial"/>
                <a:cs typeface="Arial"/>
              </a:rPr>
              <a:t>Offline-first field assistant: capture the package, extract the declarations, check them against the rules of that date,</a:t>
            </a:r>
          </a:p>
          <a:p>
            <a:pPr algn="l">
              <a:lnSpc>
                <a:spcPct val="132000"/>
              </a:lnSpc>
            </a:pPr>
            <a:r>
              <a:rPr lang="en-IN" sz="1040" b="0" dirty="0">
                <a:solidFill>
                  <a:srgbClr val="5A6672"/>
                </a:solidFill>
                <a:latin typeface="Arial"/>
                <a:cs typeface="Arial"/>
              </a:rPr>
              <a:t>measure letter height only when the evidence supports it — and abstain, on the record, when it does not.</a:t>
            </a:r>
          </a:p>
        </p:txBody>
      </p:sp>
      <p:sp>
        <p:nvSpPr>
          <p:cNvPr id="29" name="s1 mark panel 29"/>
          <p:cNvSpPr/>
          <p:nvPr/>
        </p:nvSpPr>
        <p:spPr>
          <a:xfrm>
            <a:off x="7670800" y="1092200"/>
            <a:ext cx="4038600" cy="4318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30" name="package face 30"/>
          <p:cNvSpPr/>
          <p:nvPr/>
        </p:nvSpPr>
        <p:spPr>
          <a:xfrm>
            <a:off x="7924800" y="1422400"/>
            <a:ext cx="2717800" cy="2159000"/>
          </a:xfrm>
          <a:prstGeom prst="roundRect">
            <a:avLst/>
          </a:prstGeom>
          <a:solidFill>
            <a:srgbClr val="FAFCFE"/>
          </a:solidFill>
          <a:ln w="17780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8128000" y="1612900"/>
            <a:ext cx="23241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40" b="1" dirty="0">
                <a:solidFill>
                  <a:srgbClr val="5A6672"/>
                </a:solidFill>
                <a:latin typeface="Arial"/>
                <a:cs typeface="Arial"/>
              </a:rPr>
              <a:t>NET QUANTITY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128000" y="1841500"/>
            <a:ext cx="2324100" cy="3994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700" b="1" dirty="0">
                <a:solidFill>
                  <a:srgbClr val="333333"/>
                </a:solidFill>
                <a:latin typeface="Arial"/>
                <a:cs typeface="Arial"/>
              </a:rPr>
              <a:t>500 g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128000" y="2209800"/>
            <a:ext cx="2324100" cy="281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00" b="1" dirty="0">
                <a:solidFill>
                  <a:srgbClr val="333333"/>
                </a:solidFill>
                <a:latin typeface="Arial"/>
                <a:cs typeface="Arial"/>
              </a:rPr>
              <a:t>M.R.P. Rs 145.00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8128000" y="2578100"/>
            <a:ext cx="23241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333333"/>
                </a:solidFill>
                <a:latin typeface="Arial"/>
                <a:cs typeface="Arial"/>
              </a:rPr>
              <a:t>Mfd: 03/2026</a:t>
            </a:r>
          </a:p>
        </p:txBody>
      </p:sp>
      <p:sp>
        <p:nvSpPr>
          <p:cNvPr id="35" name="sep 35"/>
          <p:cNvSpPr/>
          <p:nvPr/>
        </p:nvSpPr>
        <p:spPr>
          <a:xfrm>
            <a:off x="8128000" y="3022600"/>
            <a:ext cx="2311400" cy="1016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8128000" y="3136900"/>
            <a:ext cx="2349500" cy="2020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860" b="0" dirty="0">
                <a:solidFill>
                  <a:srgbClr val="5A6672"/>
                </a:solidFill>
                <a:latin typeface="Arial"/>
                <a:cs typeface="Arial"/>
              </a:rPr>
              <a:t>Packer: name &amp; address</a:t>
            </a:r>
          </a:p>
        </p:txBody>
      </p:sp>
      <p:sp>
        <p:nvSpPr>
          <p:cNvPr id="37" name="h bar 37"/>
          <p:cNvSpPr/>
          <p:nvPr/>
        </p:nvSpPr>
        <p:spPr>
          <a:xfrm>
            <a:off x="10363200" y="1841500"/>
            <a:ext cx="12700" cy="26670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h cap t 38"/>
          <p:cNvSpPr/>
          <p:nvPr/>
        </p:nvSpPr>
        <p:spPr>
          <a:xfrm>
            <a:off x="10306050" y="1841500"/>
            <a:ext cx="127000" cy="1270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h cap b 39"/>
          <p:cNvSpPr/>
          <p:nvPr/>
        </p:nvSpPr>
        <p:spPr>
          <a:xfrm>
            <a:off x="10306050" y="2095500"/>
            <a:ext cx="127000" cy="1270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ext 40"/>
          <p:cNvSpPr txBox="1"/>
          <p:nvPr/>
        </p:nvSpPr>
        <p:spPr>
          <a:xfrm>
            <a:off x="10502900" y="1879600"/>
            <a:ext cx="1206500" cy="2020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860" b="1" dirty="0">
                <a:solidFill>
                  <a:srgbClr val="B3541E"/>
                </a:solidFill>
                <a:latin typeface="Arial"/>
                <a:cs typeface="Arial"/>
              </a:rPr>
              <a:t>letter height</a:t>
            </a:r>
          </a:p>
        </p:txBody>
      </p:sp>
      <p:sp>
        <p:nvSpPr>
          <p:cNvPr id="41" name="state chip 41"/>
          <p:cNvSpPr/>
          <p:nvPr/>
        </p:nvSpPr>
        <p:spPr>
          <a:xfrm>
            <a:off x="7924800" y="3860800"/>
            <a:ext cx="1219200" cy="279400"/>
          </a:xfrm>
          <a:prstGeom prst="roundRect">
            <a:avLst/>
          </a:prstGeom>
          <a:solidFill>
            <a:srgbClr val="E7F0E8"/>
          </a:solidFill>
          <a:ln w="1270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24800" y="3937000"/>
            <a:ext cx="12573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940" b="1" dirty="0">
                <a:solidFill>
                  <a:srgbClr val="2E7D32"/>
                </a:solidFill>
                <a:latin typeface="Arial"/>
                <a:cs typeface="Arial"/>
              </a:rPr>
              <a:t>MEASURED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9271000" y="3873500"/>
            <a:ext cx="2222500" cy="33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millimetre estimate with an uncertainty</a:t>
            </a:r>
          </a:p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interval</a:t>
            </a:r>
          </a:p>
        </p:txBody>
      </p:sp>
      <p:sp>
        <p:nvSpPr>
          <p:cNvPr id="44" name="state chip 44"/>
          <p:cNvSpPr/>
          <p:nvPr/>
        </p:nvSpPr>
        <p:spPr>
          <a:xfrm>
            <a:off x="7924800" y="4241800"/>
            <a:ext cx="1219200" cy="279400"/>
          </a:xfrm>
          <a:prstGeom prst="roundRect">
            <a:avLst/>
          </a:prstGeom>
          <a:solidFill>
            <a:srgbClr val="F6EAE2"/>
          </a:solidFill>
          <a:ln w="12700">
            <a:solidFill>
              <a:srgbClr val="B3541E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7924800" y="4318000"/>
            <a:ext cx="12573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940" b="1" dirty="0">
                <a:solidFill>
                  <a:srgbClr val="B3541E"/>
                </a:solidFill>
                <a:latin typeface="Arial"/>
                <a:cs typeface="Arial"/>
              </a:rPr>
              <a:t>ABSTAINED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9271000" y="4254500"/>
            <a:ext cx="2222500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reason recorded; no violation inferred</a:t>
            </a:r>
          </a:p>
        </p:txBody>
      </p:sp>
      <p:sp>
        <p:nvSpPr>
          <p:cNvPr id="47" name="s1 mr 47"/>
          <p:cNvSpPr/>
          <p:nvPr/>
        </p:nvSpPr>
        <p:spPr>
          <a:xfrm>
            <a:off x="7924800" y="4699000"/>
            <a:ext cx="3530600" cy="1270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7924800" y="4826000"/>
            <a:ext cx="3568700" cy="3486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AI and computer vision assist observation. The officer records the legal</a:t>
            </a:r>
          </a:p>
          <a:p>
            <a:pPr algn="l">
              <a:lnSpc>
                <a:spcPct val="126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determination.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hrome title 2"/>
          <p:cNvSpPr txBox="1"/>
          <p:nvPr/>
        </p:nvSpPr>
        <p:spPr>
          <a:xfrm>
            <a:off x="1498600" y="254000"/>
            <a:ext cx="8928100" cy="587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2500" b="1" dirty="0">
                <a:solidFill>
                  <a:srgbClr val="1F4E79"/>
                </a:solidFill>
                <a:latin typeface="Times New Roman"/>
                <a:cs typeface="Times New Roman"/>
              </a:rPr>
              <a:t>IDEA TITLE</a:t>
            </a:r>
          </a:p>
        </p:txBody>
      </p:sp>
      <p:sp>
        <p:nvSpPr>
          <p:cNvPr id="3" name="chrome rule 3"/>
          <p:cNvSpPr/>
          <p:nvPr/>
        </p:nvSpPr>
        <p:spPr>
          <a:xfrm>
            <a:off x="1498600" y="685800"/>
            <a:ext cx="8890000" cy="177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rome team badge 4"/>
          <p:cNvSpPr/>
          <p:nvPr/>
        </p:nvSpPr>
        <p:spPr>
          <a:xfrm>
            <a:off x="254000" y="152400"/>
            <a:ext cx="10668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5" name="chrome team 5"/>
          <p:cNvSpPr txBox="1"/>
          <p:nvPr/>
        </p:nvSpPr>
        <p:spPr>
          <a:xfrm>
            <a:off x="254000" y="317500"/>
            <a:ext cx="1104900" cy="2232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950" b="1" dirty="0">
                <a:solidFill>
                  <a:srgbClr val="1F4E79"/>
                </a:solidFill>
                <a:latin typeface="Arial"/>
                <a:cs typeface="Arial"/>
              </a:rPr>
              <a:t>NiyamDrishti</a:t>
            </a:r>
          </a:p>
        </p:txBody>
      </p:sp>
      <p:sp>
        <p:nvSpPr>
          <p:cNvPr id="6" name="chrome footer 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hrome foot text 7"/>
          <p:cNvSpPr txBox="1"/>
          <p:nvPr/>
        </p:nvSpPr>
        <p:spPr>
          <a:xfrm>
            <a:off x="0" y="6642100"/>
            <a:ext cx="12230100" cy="199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850" b="0" dirty="0">
                <a:solidFill>
                  <a:srgbClr val="FFFFFF"/>
                </a:solidFill>
                <a:latin typeface="Arial"/>
                <a:cs typeface="Arial"/>
              </a:rPr>
              <a:t>@SIH Idea submission- Template</a:t>
            </a:r>
          </a:p>
        </p:txBody>
      </p:sp>
      <p:sp>
        <p:nvSpPr>
          <p:cNvPr id="8" name="chrome page 8"/>
          <p:cNvSpPr txBox="1"/>
          <p:nvPr/>
        </p:nvSpPr>
        <p:spPr>
          <a:xfrm>
            <a:off x="11760200" y="6642100"/>
            <a:ext cx="292100" cy="2114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lang="en-IN" sz="9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chrome mark rule 9"/>
          <p:cNvSpPr/>
          <p:nvPr/>
        </p:nvSpPr>
        <p:spPr>
          <a:xfrm>
            <a:off x="9855200" y="203200"/>
            <a:ext cx="17780" cy="533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hrome mark1 10"/>
          <p:cNvSpPr txBox="1"/>
          <p:nvPr/>
        </p:nvSpPr>
        <p:spPr>
          <a:xfrm>
            <a:off x="10007600" y="2032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5B8DB8"/>
                </a:solidFill>
                <a:latin typeface="Arial"/>
                <a:cs typeface="Arial"/>
              </a:rPr>
              <a:t>SMART INDIA</a:t>
            </a:r>
          </a:p>
        </p:txBody>
      </p:sp>
      <p:sp>
        <p:nvSpPr>
          <p:cNvPr id="11" name="chrome mark2 11"/>
          <p:cNvSpPr txBox="1"/>
          <p:nvPr/>
        </p:nvSpPr>
        <p:spPr>
          <a:xfrm>
            <a:off x="10007600" y="3810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HACKATHON</a:t>
            </a:r>
          </a:p>
        </p:txBody>
      </p:sp>
      <p:sp>
        <p:nvSpPr>
          <p:cNvPr id="12" name="chrome mark3 12"/>
          <p:cNvSpPr txBox="1"/>
          <p:nvPr/>
        </p:nvSpPr>
        <p:spPr>
          <a:xfrm>
            <a:off x="10007600" y="5588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2026</a:t>
            </a:r>
          </a:p>
        </p:txBody>
      </p:sp>
      <p:sp>
        <p:nvSpPr>
          <p:cNvPr id="13" name="idea strip 13"/>
          <p:cNvSpPr/>
          <p:nvPr/>
        </p:nvSpPr>
        <p:spPr>
          <a:xfrm>
            <a:off x="279400" y="762000"/>
            <a:ext cx="11633200" cy="292100"/>
          </a:xfrm>
          <a:prstGeom prst="roundRect">
            <a:avLst/>
          </a:prstGeom>
          <a:solidFill>
            <a:srgbClr val="E8F0F8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419100" y="838200"/>
            <a:ext cx="11468100" cy="2490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60" b="1" dirty="0">
                <a:solidFill>
                  <a:srgbClr val="1F4E79"/>
                </a:solidFill>
                <a:latin typeface="Arial"/>
                <a:cs typeface="Arial"/>
              </a:rPr>
              <a:t>NiyamDrishti — offline-first Legal Metrology screening assistant for packaged commodities: capture → extract → check → measure-or-abstain → evidence-linked report</a:t>
            </a:r>
          </a:p>
        </p:txBody>
      </p:sp>
      <p:sp>
        <p:nvSpPr>
          <p:cNvPr id="15" name="panel 15"/>
          <p:cNvSpPr/>
          <p:nvPr/>
        </p:nvSpPr>
        <p:spPr>
          <a:xfrm>
            <a:off x="279400" y="1143000"/>
            <a:ext cx="5918200" cy="4717237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16" name="panel head 16"/>
          <p:cNvSpPr/>
          <p:nvPr/>
        </p:nvSpPr>
        <p:spPr>
          <a:xfrm>
            <a:off x="279400" y="1143000"/>
            <a:ext cx="59182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hd rule 17"/>
          <p:cNvSpPr/>
          <p:nvPr/>
        </p:nvSpPr>
        <p:spPr>
          <a:xfrm>
            <a:off x="279400" y="1436370"/>
            <a:ext cx="59182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419100" y="1231900"/>
            <a:ext cx="56769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❖ Proposed Solution (Describe your Idea/Solution/Prototype)</a:t>
            </a:r>
          </a:p>
        </p:txBody>
      </p:sp>
      <p:sp>
        <p:nvSpPr>
          <p:cNvPr id="19" name="tick 19"/>
          <p:cNvSpPr/>
          <p:nvPr/>
        </p:nvSpPr>
        <p:spPr>
          <a:xfrm>
            <a:off x="419100" y="1587500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533400" y="1564640"/>
            <a:ext cx="55626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B3541E"/>
                </a:solidFill>
                <a:latin typeface="Arial"/>
                <a:cs typeface="Arial"/>
              </a:rPr>
              <a:t>Detailed explanation</a:t>
            </a:r>
          </a:p>
        </p:txBody>
      </p:sp>
      <p:sp>
        <p:nvSpPr>
          <p:cNvPr id="21" name="mark 21"/>
          <p:cNvSpPr txBox="1"/>
          <p:nvPr/>
        </p:nvSpPr>
        <p:spPr>
          <a:xfrm>
            <a:off x="469900" y="1752600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2" name="bul 22"/>
          <p:cNvSpPr txBox="1"/>
          <p:nvPr/>
        </p:nvSpPr>
        <p:spPr>
          <a:xfrm>
            <a:off x="592963" y="1752600"/>
            <a:ext cx="5452237" cy="55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Android app for a Legal Metrology inspection: the officer captures the package faces, the app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extracts the declarations, evaluates a versioned rule pack and assembles the record — entirely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on-device.</a:t>
            </a:r>
          </a:p>
        </p:txBody>
      </p:sp>
      <p:sp>
        <p:nvSpPr>
          <p:cNvPr id="23" name="mark 23"/>
          <p:cNvSpPr txBox="1"/>
          <p:nvPr/>
        </p:nvSpPr>
        <p:spPr>
          <a:xfrm>
            <a:off x="469900" y="2264816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4" name="bul 24"/>
          <p:cNvSpPr txBox="1"/>
          <p:nvPr/>
        </p:nvSpPr>
        <p:spPr>
          <a:xfrm>
            <a:off x="592963" y="2264816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Character-height declarations add a calibrated path: a printed co-planar reference frame turns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a phone photo into a millimetre estimate.</a:t>
            </a:r>
          </a:p>
        </p:txBody>
      </p:sp>
      <p:sp>
        <p:nvSpPr>
          <p:cNvPr id="25" name="mark 25"/>
          <p:cNvSpPr txBox="1"/>
          <p:nvPr/>
        </p:nvSpPr>
        <p:spPr>
          <a:xfrm>
            <a:off x="469900" y="2618994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6" name="bul 26"/>
          <p:cNvSpPr txBox="1"/>
          <p:nvPr/>
        </p:nvSpPr>
        <p:spPr>
          <a:xfrm>
            <a:off x="592963" y="2618994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The output is a candidate finding with its evidence, not a verdict.</a:t>
            </a:r>
          </a:p>
        </p:txBody>
      </p:sp>
      <p:sp>
        <p:nvSpPr>
          <p:cNvPr id="27" name="tick 27"/>
          <p:cNvSpPr/>
          <p:nvPr/>
        </p:nvSpPr>
        <p:spPr>
          <a:xfrm>
            <a:off x="419100" y="2967533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533400" y="2944673"/>
            <a:ext cx="55626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B3541E"/>
                </a:solidFill>
                <a:latin typeface="Arial"/>
                <a:cs typeface="Arial"/>
              </a:rPr>
              <a:t>How it addresses the problem</a:t>
            </a:r>
          </a:p>
        </p:txBody>
      </p:sp>
      <p:sp>
        <p:nvSpPr>
          <p:cNvPr id="29" name="mark 29"/>
          <p:cNvSpPr txBox="1"/>
          <p:nvPr/>
        </p:nvSpPr>
        <p:spPr>
          <a:xfrm>
            <a:off x="469900" y="3132633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30" name="bul 30"/>
          <p:cNvSpPr txBox="1"/>
          <p:nvPr/>
        </p:nvSpPr>
        <p:spPr>
          <a:xfrm>
            <a:off x="592963" y="3132633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Every finding links to its source crop, raw and normalised observation, rule version and engine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version, so a reviewer can re-trace it.</a:t>
            </a:r>
          </a:p>
        </p:txBody>
      </p:sp>
      <p:sp>
        <p:nvSpPr>
          <p:cNvPr id="31" name="mark 31"/>
          <p:cNvSpPr txBox="1"/>
          <p:nvPr/>
        </p:nvSpPr>
        <p:spPr>
          <a:xfrm>
            <a:off x="469900" y="3486810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32" name="bul 32"/>
          <p:cNvSpPr txBox="1"/>
          <p:nvPr/>
        </p:nvSpPr>
        <p:spPr>
          <a:xfrm>
            <a:off x="592963" y="3486810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Unreadable or unsuitable evidence returns PHYSICAL_SIZE_NOT_ESTABLISHED instead of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a confident violation.</a:t>
            </a:r>
          </a:p>
        </p:txBody>
      </p:sp>
      <p:sp>
        <p:nvSpPr>
          <p:cNvPr id="33" name="mark 33"/>
          <p:cNvSpPr txBox="1"/>
          <p:nvPr/>
        </p:nvSpPr>
        <p:spPr>
          <a:xfrm>
            <a:off x="469900" y="3840988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34" name="bul 34"/>
          <p:cNvSpPr txBox="1"/>
          <p:nvPr/>
        </p:nvSpPr>
        <p:spPr>
          <a:xfrm>
            <a:off x="592963" y="3840988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Contradictions across faces — two different MRPs, for instance — are preserved and flagged,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never silently resolved.</a:t>
            </a:r>
          </a:p>
        </p:txBody>
      </p:sp>
      <p:sp>
        <p:nvSpPr>
          <p:cNvPr id="35" name="mark 35"/>
          <p:cNvSpPr txBox="1"/>
          <p:nvPr/>
        </p:nvSpPr>
        <p:spPr>
          <a:xfrm>
            <a:off x="469900" y="4195166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36" name="bul 36"/>
          <p:cNvSpPr txBox="1"/>
          <p:nvPr/>
        </p:nvSpPr>
        <p:spPr>
          <a:xfrm>
            <a:off x="592963" y="4195166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No connectivity is needed in a shop or godown; sync is optional.</a:t>
            </a:r>
          </a:p>
        </p:txBody>
      </p:sp>
      <p:sp>
        <p:nvSpPr>
          <p:cNvPr id="37" name="tick 37"/>
          <p:cNvSpPr/>
          <p:nvPr/>
        </p:nvSpPr>
        <p:spPr>
          <a:xfrm>
            <a:off x="419100" y="4543704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533400" y="4520844"/>
            <a:ext cx="55626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B3541E"/>
                </a:solidFill>
                <a:latin typeface="Arial"/>
                <a:cs typeface="Arial"/>
              </a:rPr>
              <a:t>Innovation and uniqueness of the solution</a:t>
            </a:r>
          </a:p>
        </p:txBody>
      </p:sp>
      <p:sp>
        <p:nvSpPr>
          <p:cNvPr id="39" name="mark 39"/>
          <p:cNvSpPr txBox="1"/>
          <p:nvPr/>
        </p:nvSpPr>
        <p:spPr>
          <a:xfrm>
            <a:off x="469900" y="4708804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40" name="bul 40"/>
          <p:cNvSpPr txBox="1"/>
          <p:nvPr/>
        </p:nvSpPr>
        <p:spPr>
          <a:xfrm>
            <a:off x="592963" y="4708804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Evidence-bounded measurement: every millimetre figure carries an uncertainty interval and a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guard-band decision.</a:t>
            </a:r>
          </a:p>
        </p:txBody>
      </p:sp>
      <p:sp>
        <p:nvSpPr>
          <p:cNvPr id="41" name="mark 41"/>
          <p:cNvSpPr txBox="1"/>
          <p:nvPr/>
        </p:nvSpPr>
        <p:spPr>
          <a:xfrm>
            <a:off x="469900" y="5062982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42" name="bul 42"/>
          <p:cNvSpPr txBox="1"/>
          <p:nvPr/>
        </p:nvSpPr>
        <p:spPr>
          <a:xfrm>
            <a:off x="592963" y="5062982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Fail-closed gates — calibration, geometry, image quality, segmentation, burst spread,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uncertainty — run before any number is shown.</a:t>
            </a:r>
          </a:p>
        </p:txBody>
      </p:sp>
      <p:sp>
        <p:nvSpPr>
          <p:cNvPr id="43" name="mark 43"/>
          <p:cNvSpPr txBox="1"/>
          <p:nvPr/>
        </p:nvSpPr>
        <p:spPr>
          <a:xfrm>
            <a:off x="469900" y="5417160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44" name="bul 44"/>
          <p:cNvSpPr txBox="1"/>
          <p:nvPr/>
        </p:nvSpPr>
        <p:spPr>
          <a:xfrm>
            <a:off x="592963" y="5417160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Face and glyph coverage is pre-registered and hash-checked, so nothing is selected after a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result is seen.</a:t>
            </a:r>
          </a:p>
        </p:txBody>
      </p:sp>
      <p:sp>
        <p:nvSpPr>
          <p:cNvPr id="45" name="panel 45"/>
          <p:cNvSpPr/>
          <p:nvPr/>
        </p:nvSpPr>
        <p:spPr>
          <a:xfrm>
            <a:off x="6350000" y="1143000"/>
            <a:ext cx="5562600" cy="2362200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46" name="panel head 46"/>
          <p:cNvSpPr/>
          <p:nvPr/>
        </p:nvSpPr>
        <p:spPr>
          <a:xfrm>
            <a:off x="6350000" y="1143000"/>
            <a:ext cx="55626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hd rule 47"/>
          <p:cNvSpPr/>
          <p:nvPr/>
        </p:nvSpPr>
        <p:spPr>
          <a:xfrm>
            <a:off x="6350000" y="1436370"/>
            <a:ext cx="55626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6489700" y="1231900"/>
            <a:ext cx="53213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Field officer workflow</a:t>
            </a:r>
          </a:p>
        </p:txBody>
      </p:sp>
      <p:sp>
        <p:nvSpPr>
          <p:cNvPr id="49" name="step 49"/>
          <p:cNvSpPr/>
          <p:nvPr/>
        </p:nvSpPr>
        <p:spPr>
          <a:xfrm>
            <a:off x="6527800" y="1549400"/>
            <a:ext cx="2413000" cy="355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50" name="step tick 50"/>
          <p:cNvSpPr/>
          <p:nvPr/>
        </p:nvSpPr>
        <p:spPr>
          <a:xfrm>
            <a:off x="6527800" y="1549400"/>
            <a:ext cx="43180" cy="355600"/>
          </a:xfrm>
          <a:prstGeom prst="round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6680200" y="1612900"/>
            <a:ext cx="14351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CAPTURE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6680200" y="1758950"/>
            <a:ext cx="2171700" cy="192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820" b="0" dirty="0">
                <a:solidFill>
                  <a:srgbClr val="5A6672"/>
                </a:solidFill>
                <a:latin typeface="Arial"/>
                <a:cs typeface="Arial"/>
              </a:rPr>
              <a:t>package faces</a:t>
            </a:r>
          </a:p>
        </p:txBody>
      </p:sp>
      <p:sp>
        <p:nvSpPr>
          <p:cNvPr id="53" name="arrow 53"/>
          <p:cNvSpPr/>
          <p:nvPr/>
        </p:nvSpPr>
        <p:spPr>
          <a:xfrm>
            <a:off x="7670800" y="1917700"/>
            <a:ext cx="127000" cy="10160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step 54"/>
          <p:cNvSpPr/>
          <p:nvPr/>
        </p:nvSpPr>
        <p:spPr>
          <a:xfrm>
            <a:off x="6527800" y="2032000"/>
            <a:ext cx="2413000" cy="355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55" name="step tick 55"/>
          <p:cNvSpPr/>
          <p:nvPr/>
        </p:nvSpPr>
        <p:spPr>
          <a:xfrm>
            <a:off x="6527800" y="2032000"/>
            <a:ext cx="43180" cy="355600"/>
          </a:xfrm>
          <a:prstGeom prst="round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ext 56"/>
          <p:cNvSpPr txBox="1"/>
          <p:nvPr/>
        </p:nvSpPr>
        <p:spPr>
          <a:xfrm>
            <a:off x="6680200" y="2095500"/>
            <a:ext cx="14351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IDENTIFY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6680200" y="2241550"/>
            <a:ext cx="2171700" cy="192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820" b="0" dirty="0">
                <a:solidFill>
                  <a:srgbClr val="5A6672"/>
                </a:solidFill>
                <a:latin typeface="Arial"/>
                <a:cs typeface="Arial"/>
              </a:rPr>
              <a:t>product &amp; faces</a:t>
            </a:r>
          </a:p>
        </p:txBody>
      </p:sp>
      <p:sp>
        <p:nvSpPr>
          <p:cNvPr id="58" name="arrow 58"/>
          <p:cNvSpPr/>
          <p:nvPr/>
        </p:nvSpPr>
        <p:spPr>
          <a:xfrm>
            <a:off x="7670800" y="2400300"/>
            <a:ext cx="127000" cy="10160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step 59"/>
          <p:cNvSpPr/>
          <p:nvPr/>
        </p:nvSpPr>
        <p:spPr>
          <a:xfrm>
            <a:off x="6527800" y="2514600"/>
            <a:ext cx="2413000" cy="355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60" name="step tick 60"/>
          <p:cNvSpPr/>
          <p:nvPr/>
        </p:nvSpPr>
        <p:spPr>
          <a:xfrm>
            <a:off x="6527800" y="2514600"/>
            <a:ext cx="43180" cy="355600"/>
          </a:xfrm>
          <a:prstGeom prst="round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6680200" y="2578100"/>
            <a:ext cx="14351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EXTRACT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6680200" y="2724150"/>
            <a:ext cx="2171700" cy="192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820" b="0" dirty="0">
                <a:solidFill>
                  <a:srgbClr val="5A6672"/>
                </a:solidFill>
                <a:latin typeface="Arial"/>
                <a:cs typeface="Arial"/>
              </a:rPr>
              <a:t>declarations (OCR)</a:t>
            </a:r>
          </a:p>
        </p:txBody>
      </p:sp>
      <p:sp>
        <p:nvSpPr>
          <p:cNvPr id="63" name="arrow 63"/>
          <p:cNvSpPr/>
          <p:nvPr/>
        </p:nvSpPr>
        <p:spPr>
          <a:xfrm>
            <a:off x="7670800" y="2882900"/>
            <a:ext cx="127000" cy="10160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step 64"/>
          <p:cNvSpPr/>
          <p:nvPr/>
        </p:nvSpPr>
        <p:spPr>
          <a:xfrm>
            <a:off x="6527800" y="2997200"/>
            <a:ext cx="2413000" cy="355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65" name="step tick 65"/>
          <p:cNvSpPr/>
          <p:nvPr/>
        </p:nvSpPr>
        <p:spPr>
          <a:xfrm>
            <a:off x="6527800" y="2997200"/>
            <a:ext cx="43180" cy="355600"/>
          </a:xfrm>
          <a:prstGeom prst="round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text 66"/>
          <p:cNvSpPr txBox="1"/>
          <p:nvPr/>
        </p:nvSpPr>
        <p:spPr>
          <a:xfrm>
            <a:off x="6680200" y="3060700"/>
            <a:ext cx="14351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CHECK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6680200" y="3206750"/>
            <a:ext cx="2171700" cy="192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820" b="0" dirty="0">
                <a:solidFill>
                  <a:srgbClr val="5A6672"/>
                </a:solidFill>
                <a:latin typeface="Arial"/>
                <a:cs typeface="Arial"/>
              </a:rPr>
              <a:t>rule pack, by date</a:t>
            </a:r>
          </a:p>
        </p:txBody>
      </p:sp>
      <p:sp>
        <p:nvSpPr>
          <p:cNvPr id="68" name="step 68"/>
          <p:cNvSpPr/>
          <p:nvPr/>
        </p:nvSpPr>
        <p:spPr>
          <a:xfrm>
            <a:off x="9321800" y="1549400"/>
            <a:ext cx="2413000" cy="35560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69" name="step tick 69"/>
          <p:cNvSpPr/>
          <p:nvPr/>
        </p:nvSpPr>
        <p:spPr>
          <a:xfrm>
            <a:off x="9321800" y="1549400"/>
            <a:ext cx="43180" cy="355600"/>
          </a:xfrm>
          <a:prstGeom prst="round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ext 70"/>
          <p:cNvSpPr txBox="1"/>
          <p:nvPr/>
        </p:nvSpPr>
        <p:spPr>
          <a:xfrm>
            <a:off x="9474200" y="1612900"/>
            <a:ext cx="14351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MEASURE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9474200" y="1758950"/>
            <a:ext cx="2171700" cy="192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820" b="0" dirty="0">
                <a:solidFill>
                  <a:srgbClr val="5A6672"/>
                </a:solidFill>
                <a:latin typeface="Arial"/>
                <a:cs typeface="Arial"/>
              </a:rPr>
              <a:t>or abstain</a:t>
            </a:r>
          </a:p>
        </p:txBody>
      </p:sp>
      <p:sp>
        <p:nvSpPr>
          <p:cNvPr id="72" name="arrow 72"/>
          <p:cNvSpPr/>
          <p:nvPr/>
        </p:nvSpPr>
        <p:spPr>
          <a:xfrm>
            <a:off x="10464800" y="1917700"/>
            <a:ext cx="127000" cy="10160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step 73"/>
          <p:cNvSpPr/>
          <p:nvPr/>
        </p:nvSpPr>
        <p:spPr>
          <a:xfrm>
            <a:off x="9321800" y="2032000"/>
            <a:ext cx="2413000" cy="35560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74" name="step tick 74"/>
          <p:cNvSpPr/>
          <p:nvPr/>
        </p:nvSpPr>
        <p:spPr>
          <a:xfrm>
            <a:off x="9321800" y="2032000"/>
            <a:ext cx="43180" cy="355600"/>
          </a:xfrm>
          <a:prstGeom prst="round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ext 75"/>
          <p:cNvSpPr txBox="1"/>
          <p:nvPr/>
        </p:nvSpPr>
        <p:spPr>
          <a:xfrm>
            <a:off x="9474200" y="2095500"/>
            <a:ext cx="14351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9474200" y="2241550"/>
            <a:ext cx="2171700" cy="192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820" b="0" dirty="0">
                <a:solidFill>
                  <a:srgbClr val="5A6672"/>
                </a:solidFill>
                <a:latin typeface="Arial"/>
                <a:cs typeface="Arial"/>
              </a:rPr>
              <a:t>crop + hash link</a:t>
            </a:r>
          </a:p>
        </p:txBody>
      </p:sp>
      <p:sp>
        <p:nvSpPr>
          <p:cNvPr id="77" name="arrow 77"/>
          <p:cNvSpPr/>
          <p:nvPr/>
        </p:nvSpPr>
        <p:spPr>
          <a:xfrm>
            <a:off x="10464800" y="2400300"/>
            <a:ext cx="127000" cy="10160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step 78"/>
          <p:cNvSpPr/>
          <p:nvPr/>
        </p:nvSpPr>
        <p:spPr>
          <a:xfrm>
            <a:off x="9321800" y="2514600"/>
            <a:ext cx="2413000" cy="355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79" name="step tick 79"/>
          <p:cNvSpPr/>
          <p:nvPr/>
        </p:nvSpPr>
        <p:spPr>
          <a:xfrm>
            <a:off x="9321800" y="2514600"/>
            <a:ext cx="43180" cy="355600"/>
          </a:xfrm>
          <a:prstGeom prst="round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text 80"/>
          <p:cNvSpPr txBox="1"/>
          <p:nvPr/>
        </p:nvSpPr>
        <p:spPr>
          <a:xfrm>
            <a:off x="9474200" y="2578100"/>
            <a:ext cx="14351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REVIEW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9474200" y="2724150"/>
            <a:ext cx="2171700" cy="192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820" b="0" dirty="0">
                <a:solidFill>
                  <a:srgbClr val="5A6672"/>
                </a:solidFill>
                <a:latin typeface="Arial"/>
                <a:cs typeface="Arial"/>
              </a:rPr>
              <a:t>officer confirms</a:t>
            </a:r>
          </a:p>
        </p:txBody>
      </p:sp>
      <p:sp>
        <p:nvSpPr>
          <p:cNvPr id="82" name="arrow 82"/>
          <p:cNvSpPr/>
          <p:nvPr/>
        </p:nvSpPr>
        <p:spPr>
          <a:xfrm>
            <a:off x="10464800" y="2882900"/>
            <a:ext cx="127000" cy="10160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step 83"/>
          <p:cNvSpPr/>
          <p:nvPr/>
        </p:nvSpPr>
        <p:spPr>
          <a:xfrm>
            <a:off x="9321800" y="2997200"/>
            <a:ext cx="2413000" cy="355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84" name="step tick 84"/>
          <p:cNvSpPr/>
          <p:nvPr/>
        </p:nvSpPr>
        <p:spPr>
          <a:xfrm>
            <a:off x="9321800" y="2997200"/>
            <a:ext cx="43180" cy="355600"/>
          </a:xfrm>
          <a:prstGeom prst="round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text 85"/>
          <p:cNvSpPr txBox="1"/>
          <p:nvPr/>
        </p:nvSpPr>
        <p:spPr>
          <a:xfrm>
            <a:off x="9474200" y="3060700"/>
            <a:ext cx="14351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REPORT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9474200" y="3206750"/>
            <a:ext cx="2171700" cy="192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820" b="0" dirty="0">
                <a:solidFill>
                  <a:srgbClr val="5A6672"/>
                </a:solidFill>
                <a:latin typeface="Arial"/>
                <a:cs typeface="Arial"/>
              </a:rPr>
              <a:t>canonical JSON + PDF</a:t>
            </a:r>
          </a:p>
        </p:txBody>
      </p:sp>
      <p:sp>
        <p:nvSpPr>
          <p:cNvPr id="87" name="arrow 87"/>
          <p:cNvSpPr/>
          <p:nvPr/>
        </p:nvSpPr>
        <p:spPr>
          <a:xfrm>
            <a:off x="9017000" y="2273300"/>
            <a:ext cx="228600" cy="177800"/>
          </a:xfrm>
          <a:prstGeom prst="right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philosophy 88"/>
          <p:cNvSpPr/>
          <p:nvPr/>
        </p:nvSpPr>
        <p:spPr>
          <a:xfrm>
            <a:off x="6350000" y="3632200"/>
            <a:ext cx="5562600" cy="609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text 89"/>
          <p:cNvSpPr txBox="1"/>
          <p:nvPr/>
        </p:nvSpPr>
        <p:spPr>
          <a:xfrm>
            <a:off x="6553200" y="3759200"/>
            <a:ext cx="1943100" cy="3994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700" b="1" dirty="0">
                <a:solidFill>
                  <a:srgbClr val="FFFFFF"/>
                </a:solidFill>
                <a:latin typeface="Times New Roman"/>
                <a:cs typeface="Times New Roman"/>
              </a:rPr>
              <a:t>“Don’t guess.”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280400" y="3746500"/>
            <a:ext cx="3467100" cy="382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IN" sz="940" b="0" dirty="0">
                <a:solidFill>
                  <a:srgbClr val="DCE6F0"/>
                </a:solidFill>
                <a:latin typeface="Arial"/>
                <a:cs typeface="Arial"/>
              </a:rPr>
              <a:t>An unreadable or unsuitable condition must never become a</a:t>
            </a:r>
          </a:p>
          <a:p>
            <a:pPr algn="l">
              <a:lnSpc>
                <a:spcPct val="130000"/>
              </a:lnSpc>
            </a:pPr>
            <a:r>
              <a:rPr lang="en-IN" sz="940" b="0" dirty="0">
                <a:solidFill>
                  <a:srgbClr val="DCE6F0"/>
                </a:solidFill>
                <a:latin typeface="Arial"/>
                <a:cs typeface="Arial"/>
              </a:rPr>
              <a:t>confident violation. The system states what it could not establish.</a:t>
            </a:r>
          </a:p>
        </p:txBody>
      </p:sp>
      <p:sp>
        <p:nvSpPr>
          <p:cNvPr id="91" name="panel 91"/>
          <p:cNvSpPr/>
          <p:nvPr/>
        </p:nvSpPr>
        <p:spPr>
          <a:xfrm>
            <a:off x="6350000" y="4368800"/>
            <a:ext cx="5562600" cy="1251712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92" name="panel head 92"/>
          <p:cNvSpPr/>
          <p:nvPr/>
        </p:nvSpPr>
        <p:spPr>
          <a:xfrm>
            <a:off x="6350000" y="4368800"/>
            <a:ext cx="55626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hd rule 93"/>
          <p:cNvSpPr/>
          <p:nvPr/>
        </p:nvSpPr>
        <p:spPr>
          <a:xfrm>
            <a:off x="6350000" y="4662170"/>
            <a:ext cx="55626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text 94"/>
          <p:cNvSpPr txBox="1"/>
          <p:nvPr/>
        </p:nvSpPr>
        <p:spPr>
          <a:xfrm>
            <a:off x="6489700" y="4457700"/>
            <a:ext cx="53213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Where the boundary sits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6540500" y="4775200"/>
            <a:ext cx="12573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AI / CV assists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7861300" y="4775200"/>
            <a:ext cx="3898900" cy="240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detection, OCR, boundary estimation, gating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6540500" y="5048504"/>
            <a:ext cx="12573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System states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7861300" y="5048504"/>
            <a:ext cx="3898900" cy="240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MEASURED with an interval · or ABSTAINED with a reason code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6540500" y="5321808"/>
            <a:ext cx="12573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B3541E"/>
                </a:solidFill>
                <a:latin typeface="Arial"/>
                <a:cs typeface="Arial"/>
              </a:rPr>
              <a:t>Officer decides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7861300" y="5321808"/>
            <a:ext cx="3898900" cy="240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reviews the evidence and records the legal determination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hrome title 2"/>
          <p:cNvSpPr txBox="1"/>
          <p:nvPr/>
        </p:nvSpPr>
        <p:spPr>
          <a:xfrm>
            <a:off x="1498600" y="254000"/>
            <a:ext cx="8928100" cy="587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2500" b="1" dirty="0">
                <a:solidFill>
                  <a:srgbClr val="1F4E79"/>
                </a:solidFill>
                <a:latin typeface="Times New Roman"/>
                <a:cs typeface="Times New Roman"/>
              </a:rPr>
              <a:t>TECHNICAL APPROACH</a:t>
            </a:r>
          </a:p>
        </p:txBody>
      </p:sp>
      <p:sp>
        <p:nvSpPr>
          <p:cNvPr id="3" name="chrome rule 3"/>
          <p:cNvSpPr/>
          <p:nvPr/>
        </p:nvSpPr>
        <p:spPr>
          <a:xfrm>
            <a:off x="1498600" y="685800"/>
            <a:ext cx="8890000" cy="177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rome team badge 4"/>
          <p:cNvSpPr/>
          <p:nvPr/>
        </p:nvSpPr>
        <p:spPr>
          <a:xfrm>
            <a:off x="254000" y="152400"/>
            <a:ext cx="10668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5" name="chrome team 5"/>
          <p:cNvSpPr txBox="1"/>
          <p:nvPr/>
        </p:nvSpPr>
        <p:spPr>
          <a:xfrm>
            <a:off x="254000" y="317500"/>
            <a:ext cx="1104900" cy="2232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950" b="1" dirty="0">
                <a:solidFill>
                  <a:srgbClr val="1F4E79"/>
                </a:solidFill>
                <a:latin typeface="Arial"/>
                <a:cs typeface="Arial"/>
              </a:rPr>
              <a:t>NiyamDrishti</a:t>
            </a:r>
          </a:p>
        </p:txBody>
      </p:sp>
      <p:sp>
        <p:nvSpPr>
          <p:cNvPr id="6" name="chrome footer 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hrome foot text 7"/>
          <p:cNvSpPr txBox="1"/>
          <p:nvPr/>
        </p:nvSpPr>
        <p:spPr>
          <a:xfrm>
            <a:off x="0" y="6642100"/>
            <a:ext cx="12230100" cy="199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850" b="0" dirty="0">
                <a:solidFill>
                  <a:srgbClr val="FFFFFF"/>
                </a:solidFill>
                <a:latin typeface="Arial"/>
                <a:cs typeface="Arial"/>
              </a:rPr>
              <a:t>@SIH Idea submission- Template</a:t>
            </a:r>
          </a:p>
        </p:txBody>
      </p:sp>
      <p:sp>
        <p:nvSpPr>
          <p:cNvPr id="8" name="chrome page 8"/>
          <p:cNvSpPr txBox="1"/>
          <p:nvPr/>
        </p:nvSpPr>
        <p:spPr>
          <a:xfrm>
            <a:off x="11760200" y="6642100"/>
            <a:ext cx="292100" cy="2114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lang="en-IN" sz="9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9" name="chrome mark rule 9"/>
          <p:cNvSpPr/>
          <p:nvPr/>
        </p:nvSpPr>
        <p:spPr>
          <a:xfrm>
            <a:off x="9855200" y="203200"/>
            <a:ext cx="17780" cy="533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hrome mark1 10"/>
          <p:cNvSpPr txBox="1"/>
          <p:nvPr/>
        </p:nvSpPr>
        <p:spPr>
          <a:xfrm>
            <a:off x="10007600" y="2032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5B8DB8"/>
                </a:solidFill>
                <a:latin typeface="Arial"/>
                <a:cs typeface="Arial"/>
              </a:rPr>
              <a:t>SMART INDIA</a:t>
            </a:r>
          </a:p>
        </p:txBody>
      </p:sp>
      <p:sp>
        <p:nvSpPr>
          <p:cNvPr id="11" name="chrome mark2 11"/>
          <p:cNvSpPr txBox="1"/>
          <p:nvPr/>
        </p:nvSpPr>
        <p:spPr>
          <a:xfrm>
            <a:off x="10007600" y="3810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HACKATHON</a:t>
            </a:r>
          </a:p>
        </p:txBody>
      </p:sp>
      <p:sp>
        <p:nvSpPr>
          <p:cNvPr id="12" name="chrome mark3 12"/>
          <p:cNvSpPr txBox="1"/>
          <p:nvPr/>
        </p:nvSpPr>
        <p:spPr>
          <a:xfrm>
            <a:off x="10007600" y="5588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2026</a:t>
            </a:r>
          </a:p>
        </p:txBody>
      </p:sp>
      <p:sp>
        <p:nvSpPr>
          <p:cNvPr id="13" name="panel 13"/>
          <p:cNvSpPr/>
          <p:nvPr/>
        </p:nvSpPr>
        <p:spPr>
          <a:xfrm>
            <a:off x="279400" y="787400"/>
            <a:ext cx="5918200" cy="3639820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14" name="panel head 14"/>
          <p:cNvSpPr/>
          <p:nvPr/>
        </p:nvSpPr>
        <p:spPr>
          <a:xfrm>
            <a:off x="279400" y="787400"/>
            <a:ext cx="59182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hd rule 15"/>
          <p:cNvSpPr/>
          <p:nvPr/>
        </p:nvSpPr>
        <p:spPr>
          <a:xfrm>
            <a:off x="279400" y="1080770"/>
            <a:ext cx="59182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419100" y="876300"/>
            <a:ext cx="56769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Technologies to be used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31800" y="1193800"/>
            <a:ext cx="12065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Client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701800" y="1193800"/>
            <a:ext cx="4381500" cy="240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Android (Kotlin), offline-first; encrypted local store; optional idempotent sync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431800" y="1467104"/>
            <a:ext cx="12065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Vision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701800" y="1467104"/>
            <a:ext cx="4381500" cy="4041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on-device OCR with face and declaration-line detection; every crop retained</a:t>
            </a:r>
          </a:p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as evidence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31800" y="1895145"/>
            <a:ext cx="12065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Measurement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701800" y="1895145"/>
            <a:ext cx="4381500" cy="4041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four-marker co-planar fiducial, homography rectification, sub-pixel 50 %</a:t>
            </a:r>
          </a:p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linearised-luminance ink boundary, model-fitted extremes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31800" y="2323186"/>
            <a:ext cx="12065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Rules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701800" y="2323186"/>
            <a:ext cx="4381500" cy="4041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signed, versioned rule pack selected by inspection date; deterministic</a:t>
            </a:r>
          </a:p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three/four-valued logic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31800" y="2751226"/>
            <a:ext cx="12065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Uncertainty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701800" y="2751226"/>
            <a:ext cx="4381500" cy="4041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component budget → combined u_c; k = 1.645, reported as nominal and not</a:t>
            </a:r>
          </a:p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yet calibrated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431800" y="3179267"/>
            <a:ext cx="12065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701800" y="3179267"/>
            <a:ext cx="4381500" cy="240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canonical JSON plus an offline PDF, hash-linked; role-based review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431800" y="3452571"/>
            <a:ext cx="12065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Reference build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701800" y="3452571"/>
            <a:ext cx="4381500" cy="4041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pure-Python measurement engine with no third-party numerical stack; 352</a:t>
            </a:r>
          </a:p>
          <a:p>
            <a:pPr algn="l">
              <a:lnSpc>
                <a:spcPct val="126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automated tests; deterministic re-runs</a:t>
            </a:r>
          </a:p>
        </p:txBody>
      </p:sp>
      <p:sp>
        <p:nvSpPr>
          <p:cNvPr id="31" name="tech rule 31"/>
          <p:cNvSpPr/>
          <p:nvPr/>
        </p:nvSpPr>
        <p:spPr>
          <a:xfrm>
            <a:off x="431800" y="3867912"/>
            <a:ext cx="5613400" cy="1270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build status 32"/>
          <p:cNvSpPr txBox="1"/>
          <p:nvPr/>
        </p:nvSpPr>
        <p:spPr>
          <a:xfrm>
            <a:off x="431800" y="3982212"/>
            <a:ext cx="5651500" cy="3611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IN" sz="900" b="0" dirty="0">
                <a:solidFill>
                  <a:srgbClr val="5A6672"/>
                </a:solidFill>
                <a:latin typeface="Arial"/>
                <a:cs typeface="Arial"/>
              </a:rPr>
              <a:t>Built and tested today: the measurement engine, its benchmark and the validation tooling. The Android client is</a:t>
            </a:r>
          </a:p>
          <a:p>
            <a:pPr algn="l">
              <a:lnSpc>
                <a:spcPct val="128000"/>
              </a:lnSpc>
            </a:pPr>
            <a:r>
              <a:rPr lang="en-IN" sz="900" b="0" dirty="0">
                <a:solidFill>
                  <a:srgbClr val="5A6672"/>
                </a:solidFill>
                <a:latin typeface="Arial"/>
                <a:cs typeface="Arial"/>
              </a:rPr>
              <a:t>the implementation target of this proposal, not a finished product.</a:t>
            </a:r>
          </a:p>
        </p:txBody>
      </p:sp>
      <p:sp>
        <p:nvSpPr>
          <p:cNvPr id="33" name="panel 33"/>
          <p:cNvSpPr/>
          <p:nvPr/>
        </p:nvSpPr>
        <p:spPr>
          <a:xfrm>
            <a:off x="6350000" y="787400"/>
            <a:ext cx="5562600" cy="3352800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34" name="panel head 34"/>
          <p:cNvSpPr/>
          <p:nvPr/>
        </p:nvSpPr>
        <p:spPr>
          <a:xfrm>
            <a:off x="6350000" y="787400"/>
            <a:ext cx="55626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hd rule 35"/>
          <p:cNvSpPr/>
          <p:nvPr/>
        </p:nvSpPr>
        <p:spPr>
          <a:xfrm>
            <a:off x="6350000" y="1080770"/>
            <a:ext cx="55626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6489700" y="876300"/>
            <a:ext cx="53213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Methodology — how a photo becomes a bounded millimetre estimate</a:t>
            </a:r>
          </a:p>
        </p:txBody>
      </p:sp>
      <p:sp>
        <p:nvSpPr>
          <p:cNvPr id="37" name="stage 37"/>
          <p:cNvSpPr/>
          <p:nvPr/>
        </p:nvSpPr>
        <p:spPr>
          <a:xfrm>
            <a:off x="6553200" y="1219200"/>
            <a:ext cx="3149600" cy="30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6692900" y="1300480"/>
            <a:ext cx="29845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Known physical reference</a:t>
            </a:r>
          </a:p>
        </p:txBody>
      </p:sp>
      <p:sp>
        <p:nvSpPr>
          <p:cNvPr id="39" name="arrow 39"/>
          <p:cNvSpPr/>
          <p:nvPr/>
        </p:nvSpPr>
        <p:spPr>
          <a:xfrm>
            <a:off x="8064500" y="1530350"/>
            <a:ext cx="127000" cy="8255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stage 40"/>
          <p:cNvSpPr/>
          <p:nvPr/>
        </p:nvSpPr>
        <p:spPr>
          <a:xfrm>
            <a:off x="6553200" y="1612900"/>
            <a:ext cx="3149600" cy="30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6692900" y="1694180"/>
            <a:ext cx="29845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Controlled capture</a:t>
            </a:r>
          </a:p>
        </p:txBody>
      </p:sp>
      <p:sp>
        <p:nvSpPr>
          <p:cNvPr id="42" name="arrow 42"/>
          <p:cNvSpPr/>
          <p:nvPr/>
        </p:nvSpPr>
        <p:spPr>
          <a:xfrm>
            <a:off x="8064500" y="1924050"/>
            <a:ext cx="127000" cy="8255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tage 43"/>
          <p:cNvSpPr/>
          <p:nvPr/>
        </p:nvSpPr>
        <p:spPr>
          <a:xfrm>
            <a:off x="6553200" y="2006600"/>
            <a:ext cx="3149600" cy="30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6692900" y="2087880"/>
            <a:ext cx="29845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Geometry correction</a:t>
            </a:r>
          </a:p>
        </p:txBody>
      </p:sp>
      <p:sp>
        <p:nvSpPr>
          <p:cNvPr id="45" name="arrow 45"/>
          <p:cNvSpPr/>
          <p:nvPr/>
        </p:nvSpPr>
        <p:spPr>
          <a:xfrm>
            <a:off x="8064500" y="2317750"/>
            <a:ext cx="127000" cy="8255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stage 46"/>
          <p:cNvSpPr/>
          <p:nvPr/>
        </p:nvSpPr>
        <p:spPr>
          <a:xfrm>
            <a:off x="6553200" y="2400300"/>
            <a:ext cx="3149600" cy="30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6692900" y="2481580"/>
            <a:ext cx="29845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Printed boundary estimation</a:t>
            </a:r>
          </a:p>
        </p:txBody>
      </p:sp>
      <p:sp>
        <p:nvSpPr>
          <p:cNvPr id="48" name="arrow 48"/>
          <p:cNvSpPr/>
          <p:nvPr/>
        </p:nvSpPr>
        <p:spPr>
          <a:xfrm>
            <a:off x="8064500" y="2711450"/>
            <a:ext cx="127000" cy="8255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tage 49"/>
          <p:cNvSpPr/>
          <p:nvPr/>
        </p:nvSpPr>
        <p:spPr>
          <a:xfrm>
            <a:off x="6553200" y="2794000"/>
            <a:ext cx="3149600" cy="30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6692900" y="2875280"/>
            <a:ext cx="29845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Physical size estimate</a:t>
            </a:r>
          </a:p>
        </p:txBody>
      </p:sp>
      <p:sp>
        <p:nvSpPr>
          <p:cNvPr id="51" name="arrow 51"/>
          <p:cNvSpPr/>
          <p:nvPr/>
        </p:nvSpPr>
        <p:spPr>
          <a:xfrm>
            <a:off x="8064500" y="3105150"/>
            <a:ext cx="127000" cy="82550"/>
          </a:xfrm>
          <a:prstGeom prst="down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stage 52"/>
          <p:cNvSpPr/>
          <p:nvPr/>
        </p:nvSpPr>
        <p:spPr>
          <a:xfrm>
            <a:off x="6553200" y="3187700"/>
            <a:ext cx="3149600" cy="30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6692900" y="3268980"/>
            <a:ext cx="29845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Uncertainty</a:t>
            </a:r>
          </a:p>
        </p:txBody>
      </p:sp>
      <p:sp>
        <p:nvSpPr>
          <p:cNvPr id="54" name="measured 54"/>
          <p:cNvSpPr/>
          <p:nvPr/>
        </p:nvSpPr>
        <p:spPr>
          <a:xfrm>
            <a:off x="6553200" y="3632200"/>
            <a:ext cx="1473200" cy="355600"/>
          </a:xfrm>
          <a:prstGeom prst="roundRect">
            <a:avLst/>
          </a:prstGeom>
          <a:solidFill>
            <a:srgbClr val="E7F0E8"/>
          </a:solidFill>
          <a:ln w="1397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6553200" y="3738880"/>
            <a:ext cx="15113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1040" b="1" dirty="0">
                <a:solidFill>
                  <a:srgbClr val="2E7D32"/>
                </a:solidFill>
                <a:latin typeface="Arial"/>
                <a:cs typeface="Arial"/>
              </a:rPr>
              <a:t>MEASURE</a:t>
            </a:r>
          </a:p>
        </p:txBody>
      </p:sp>
      <p:sp>
        <p:nvSpPr>
          <p:cNvPr id="56" name="abstain 56"/>
          <p:cNvSpPr/>
          <p:nvPr/>
        </p:nvSpPr>
        <p:spPr>
          <a:xfrm>
            <a:off x="8229600" y="3632200"/>
            <a:ext cx="1473200" cy="355600"/>
          </a:xfrm>
          <a:prstGeom prst="roundRect">
            <a:avLst/>
          </a:prstGeom>
          <a:solidFill>
            <a:srgbClr val="F6EAE2"/>
          </a:solidFill>
          <a:ln w="13970">
            <a:solidFill>
              <a:srgbClr val="B3541E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8229600" y="3738880"/>
            <a:ext cx="15113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1040" b="1" dirty="0">
                <a:solidFill>
                  <a:srgbClr val="B3541E"/>
                </a:solidFill>
                <a:latin typeface="Arial"/>
                <a:cs typeface="Arial"/>
              </a:rPr>
              <a:t>ABSTAIN</a:t>
            </a:r>
          </a:p>
        </p:txBody>
      </p:sp>
      <p:sp>
        <p:nvSpPr>
          <p:cNvPr id="58" name="arrow 58"/>
          <p:cNvSpPr/>
          <p:nvPr/>
        </p:nvSpPr>
        <p:spPr>
          <a:xfrm>
            <a:off x="9804400" y="3721100"/>
            <a:ext cx="177800" cy="177800"/>
          </a:xfrm>
          <a:prstGeom prst="right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officer 59"/>
          <p:cNvSpPr/>
          <p:nvPr/>
        </p:nvSpPr>
        <p:spPr>
          <a:xfrm>
            <a:off x="10058400" y="3632200"/>
            <a:ext cx="1676400" cy="355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10058400" y="3738880"/>
            <a:ext cx="17145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960" b="1" dirty="0">
                <a:solidFill>
                  <a:srgbClr val="FFFFFF"/>
                </a:solidFill>
                <a:latin typeface="Arial"/>
                <a:cs typeface="Arial"/>
              </a:rPr>
              <a:t>OFFICER REVIEW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9880600" y="1295400"/>
            <a:ext cx="1892300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Fail-closed gates choose the branch:</a:t>
            </a:r>
          </a:p>
          <a:p>
            <a:pPr algn="l">
              <a:lnSpc>
                <a:spcPct val="132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calibration, geometry, image quality,</a:t>
            </a:r>
          </a:p>
          <a:p>
            <a:pPr algn="l">
              <a:lnSpc>
                <a:spcPct val="132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segmentation, burst spread,</a:t>
            </a:r>
          </a:p>
          <a:p>
            <a:pPr algn="l">
              <a:lnSpc>
                <a:spcPct val="132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uncertainty. A gate that cannot be</a:t>
            </a:r>
          </a:p>
          <a:p>
            <a:pPr algn="l">
              <a:lnSpc>
                <a:spcPct val="132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satisfied abstains.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9880600" y="2514600"/>
            <a:ext cx="1892300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The measurand is documented</a:t>
            </a:r>
          </a:p>
          <a:p>
            <a:pPr algn="l">
              <a:lnSpc>
                <a:spcPct val="132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explicitly — visible printed-ink extent</a:t>
            </a:r>
          </a:p>
          <a:p>
            <a:pPr algn="l">
              <a:lnSpc>
                <a:spcPct val="132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perpendicular to the fitted baseline —</a:t>
            </a:r>
          </a:p>
          <a:p>
            <a:pPr algn="l">
              <a:lnSpc>
                <a:spcPct val="132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and labelled a screening proxy, not a</a:t>
            </a:r>
          </a:p>
          <a:p>
            <a:pPr algn="l">
              <a:lnSpc>
                <a:spcPct val="132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statutory definition.</a:t>
            </a:r>
          </a:p>
        </p:txBody>
      </p:sp>
      <p:sp>
        <p:nvSpPr>
          <p:cNvPr id="63" name="panel 63"/>
          <p:cNvSpPr/>
          <p:nvPr/>
        </p:nvSpPr>
        <p:spPr>
          <a:xfrm>
            <a:off x="279400" y="4579620"/>
            <a:ext cx="11633200" cy="1485494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64" name="panel head 64"/>
          <p:cNvSpPr/>
          <p:nvPr/>
        </p:nvSpPr>
        <p:spPr>
          <a:xfrm>
            <a:off x="279400" y="4579620"/>
            <a:ext cx="116332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hd rule 65"/>
          <p:cNvSpPr/>
          <p:nvPr/>
        </p:nvSpPr>
        <p:spPr>
          <a:xfrm>
            <a:off x="279400" y="4872990"/>
            <a:ext cx="116332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text 66"/>
          <p:cNvSpPr txBox="1"/>
          <p:nvPr/>
        </p:nvSpPr>
        <p:spPr>
          <a:xfrm>
            <a:off x="419100" y="4668520"/>
            <a:ext cx="113919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Validation status — what is evidence today, and what is not</a:t>
            </a:r>
          </a:p>
        </p:txBody>
      </p:sp>
      <p:sp>
        <p:nvSpPr>
          <p:cNvPr id="67" name="vcard 67"/>
          <p:cNvSpPr/>
          <p:nvPr/>
        </p:nvSpPr>
        <p:spPr>
          <a:xfrm>
            <a:off x="431800" y="4986020"/>
            <a:ext cx="3725333" cy="926694"/>
          </a:xfrm>
          <a:prstGeom prst="roundRect">
            <a:avLst/>
          </a:prstGeom>
          <a:solidFill>
            <a:srgbClr val="E7F0E8"/>
          </a:solidFill>
          <a:ln w="1143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68" name="vcard 68"/>
          <p:cNvSpPr/>
          <p:nvPr/>
        </p:nvSpPr>
        <p:spPr>
          <a:xfrm>
            <a:off x="4233333" y="4986020"/>
            <a:ext cx="3725333" cy="926694"/>
          </a:xfrm>
          <a:prstGeom prst="roundRect">
            <a:avLst/>
          </a:prstGeom>
          <a:solidFill>
            <a:srgbClr val="E7F0E8"/>
          </a:solidFill>
          <a:ln w="11430">
            <a:solidFill>
              <a:srgbClr val="2E7D32"/>
            </a:solidFill>
          </a:ln>
        </p:spPr>
        <p:txBody>
          <a:bodyPr/>
          <a:lstStyle/>
          <a:p/>
        </p:txBody>
      </p:sp>
      <p:sp>
        <p:nvSpPr>
          <p:cNvPr id="69" name="vcard 69"/>
          <p:cNvSpPr/>
          <p:nvPr/>
        </p:nvSpPr>
        <p:spPr>
          <a:xfrm>
            <a:off x="8034867" y="4986020"/>
            <a:ext cx="3725333" cy="926694"/>
          </a:xfrm>
          <a:prstGeom prst="roundRect">
            <a:avLst/>
          </a:prstGeom>
          <a:solidFill>
            <a:srgbClr val="F6EAE2"/>
          </a:solidFill>
          <a:ln w="11430">
            <a:solidFill>
              <a:srgbClr val="B3541E"/>
            </a:solidFill>
          </a:ln>
        </p:spPr>
        <p:txBody>
          <a:bodyPr/>
          <a:lstStyle/>
          <a:p/>
        </p:txBody>
      </p:sp>
      <p:sp>
        <p:nvSpPr>
          <p:cNvPr id="70" name="text 70"/>
          <p:cNvSpPr txBox="1"/>
          <p:nvPr/>
        </p:nvSpPr>
        <p:spPr>
          <a:xfrm>
            <a:off x="558800" y="5087620"/>
            <a:ext cx="3509433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980" b="1" dirty="0">
                <a:solidFill>
                  <a:srgbClr val="2E7D32"/>
                </a:solidFill>
                <a:latin typeface="Arial"/>
                <a:cs typeface="Arial"/>
              </a:rPr>
              <a:t>Controlled synthetic benchmark</a:t>
            </a:r>
          </a:p>
        </p:txBody>
      </p:sp>
      <p:sp>
        <p:nvSpPr>
          <p:cNvPr id="71" name="mark 71"/>
          <p:cNvSpPr txBox="1"/>
          <p:nvPr/>
        </p:nvSpPr>
        <p:spPr>
          <a:xfrm>
            <a:off x="558800" y="5313172"/>
            <a:ext cx="144272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2E7D32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72" name="bul 72"/>
          <p:cNvSpPr txBox="1"/>
          <p:nvPr/>
        </p:nvSpPr>
        <p:spPr>
          <a:xfrm>
            <a:off x="664972" y="5313172"/>
            <a:ext cx="3403261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76 runs, 10 of 10 pre-registered criteria PASS</a:t>
            </a:r>
          </a:p>
        </p:txBody>
      </p:sp>
      <p:sp>
        <p:nvSpPr>
          <p:cNvPr id="73" name="mark 73"/>
          <p:cNvSpPr txBox="1"/>
          <p:nvPr/>
        </p:nvSpPr>
        <p:spPr>
          <a:xfrm>
            <a:off x="558800" y="5481269"/>
            <a:ext cx="144272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2E7D32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74" name="bul 74"/>
          <p:cNvSpPr txBox="1"/>
          <p:nvPr/>
        </p:nvSpPr>
        <p:spPr>
          <a:xfrm>
            <a:off x="664972" y="5481269"/>
            <a:ext cx="3403261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max arithmetic error 0.008 mm on ideal renders</a:t>
            </a:r>
          </a:p>
        </p:txBody>
      </p:sp>
      <p:sp>
        <p:nvSpPr>
          <p:cNvPr id="75" name="mark 75"/>
          <p:cNvSpPr txBox="1"/>
          <p:nvPr/>
        </p:nvSpPr>
        <p:spPr>
          <a:xfrm>
            <a:off x="558800" y="5649366"/>
            <a:ext cx="144272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2E7D32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76" name="bul 76"/>
          <p:cNvSpPr txBox="1"/>
          <p:nvPr/>
        </p:nvSpPr>
        <p:spPr>
          <a:xfrm>
            <a:off x="664972" y="5649366"/>
            <a:ext cx="3403261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median burst repeatability SD 0.0025 mm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4360333" y="5087620"/>
            <a:ext cx="3509433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980" b="1" dirty="0">
                <a:solidFill>
                  <a:srgbClr val="2E7D32"/>
                </a:solidFill>
                <a:latin typeface="Arial"/>
                <a:cs typeface="Arial"/>
              </a:rPr>
              <a:t>Abstention behaviour, same benchmark</a:t>
            </a:r>
          </a:p>
        </p:txBody>
      </p:sp>
      <p:sp>
        <p:nvSpPr>
          <p:cNvPr id="78" name="mark 78"/>
          <p:cNvSpPr txBox="1"/>
          <p:nvPr/>
        </p:nvSpPr>
        <p:spPr>
          <a:xfrm>
            <a:off x="4360333" y="5313172"/>
            <a:ext cx="144272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2E7D32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79" name="bul 79"/>
          <p:cNvSpPr txBox="1"/>
          <p:nvPr/>
        </p:nvSpPr>
        <p:spPr>
          <a:xfrm>
            <a:off x="4466505" y="5313172"/>
            <a:ext cx="3403261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11 of 11 targeted unsafe cases abstained</a:t>
            </a:r>
          </a:p>
        </p:txBody>
      </p:sp>
      <p:sp>
        <p:nvSpPr>
          <p:cNvPr id="80" name="mark 80"/>
          <p:cNvSpPr txBox="1"/>
          <p:nvPr/>
        </p:nvSpPr>
        <p:spPr>
          <a:xfrm>
            <a:off x="4360333" y="5481269"/>
            <a:ext cx="144272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2E7D32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81" name="bul 81"/>
          <p:cNvSpPr txBox="1"/>
          <p:nvPr/>
        </p:nvSpPr>
        <p:spPr>
          <a:xfrm>
            <a:off x="4466505" y="5481269"/>
            <a:ext cx="3403261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0 false-clear of 4 undersized; 0 false-accuse of 4 compliant</a:t>
            </a:r>
          </a:p>
        </p:txBody>
      </p:sp>
      <p:sp>
        <p:nvSpPr>
          <p:cNvPr id="82" name="mark 82"/>
          <p:cNvSpPr txBox="1"/>
          <p:nvPr/>
        </p:nvSpPr>
        <p:spPr>
          <a:xfrm>
            <a:off x="4360333" y="5649366"/>
            <a:ext cx="144272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2E7D32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83" name="bul 83"/>
          <p:cNvSpPr txBox="1"/>
          <p:nvPr/>
        </p:nvSpPr>
        <p:spPr>
          <a:xfrm>
            <a:off x="4466505" y="5649366"/>
            <a:ext cx="3403261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measure rate 1.00 under safe conditions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8161867" y="5087620"/>
            <a:ext cx="3509433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980" b="1" dirty="0">
                <a:solidFill>
                  <a:srgbClr val="B3541E"/>
                </a:solidFill>
                <a:latin typeface="Arial"/>
                <a:cs typeface="Arial"/>
              </a:rPr>
              <a:t>Physical laboratory validation</a:t>
            </a:r>
          </a:p>
        </p:txBody>
      </p:sp>
      <p:sp>
        <p:nvSpPr>
          <p:cNvPr id="85" name="mark 85"/>
          <p:cNvSpPr txBox="1"/>
          <p:nvPr/>
        </p:nvSpPr>
        <p:spPr>
          <a:xfrm>
            <a:off x="8161867" y="5313172"/>
            <a:ext cx="144272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B3541E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86" name="bul 86"/>
          <p:cNvSpPr txBox="1"/>
          <p:nvPr/>
        </p:nvSpPr>
        <p:spPr>
          <a:xfrm>
            <a:off x="8268039" y="5313172"/>
            <a:ext cx="3403261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P1–P7 acceptance criteria pre-registered and frozen</a:t>
            </a:r>
          </a:p>
        </p:txBody>
      </p:sp>
      <p:sp>
        <p:nvSpPr>
          <p:cNvPr id="87" name="mark 87"/>
          <p:cNvSpPr txBox="1"/>
          <p:nvPr/>
        </p:nvSpPr>
        <p:spPr>
          <a:xfrm>
            <a:off x="8161867" y="5481269"/>
            <a:ext cx="144272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B3541E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88" name="bul 88"/>
          <p:cNvSpPr txBox="1"/>
          <p:nvPr/>
        </p:nvSpPr>
        <p:spPr>
          <a:xfrm>
            <a:off x="8268039" y="5481269"/>
            <a:ext cx="3403261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reference procedure, glyph map and panel selection committed</a:t>
            </a:r>
          </a:p>
        </p:txBody>
      </p:sp>
      <p:sp>
        <p:nvSpPr>
          <p:cNvPr id="89" name="mark 89"/>
          <p:cNvSpPr txBox="1"/>
          <p:nvPr/>
        </p:nvSpPr>
        <p:spPr>
          <a:xfrm>
            <a:off x="8161867" y="5649366"/>
            <a:ext cx="144272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B3541E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90" name="bul 90"/>
          <p:cNvSpPr txBox="1"/>
          <p:nvPr/>
        </p:nvSpPr>
        <p:spPr>
          <a:xfrm>
            <a:off x="8268039" y="5649366"/>
            <a:ext cx="3403261" cy="2034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880" b="0" dirty="0">
                <a:solidFill>
                  <a:srgbClr val="333333"/>
                </a:solidFill>
                <a:latin typeface="Arial"/>
                <a:cs typeface="Arial"/>
              </a:rPr>
              <a:t>laboratory validation pending — no physical claim is made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hrome title 2"/>
          <p:cNvSpPr txBox="1"/>
          <p:nvPr/>
        </p:nvSpPr>
        <p:spPr>
          <a:xfrm>
            <a:off x="1498600" y="254000"/>
            <a:ext cx="8928100" cy="587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2500" b="1" dirty="0">
                <a:solidFill>
                  <a:srgbClr val="1F4E79"/>
                </a:solidFill>
                <a:latin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3" name="chrome rule 3"/>
          <p:cNvSpPr/>
          <p:nvPr/>
        </p:nvSpPr>
        <p:spPr>
          <a:xfrm>
            <a:off x="1498600" y="685800"/>
            <a:ext cx="8890000" cy="177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rome team badge 4"/>
          <p:cNvSpPr/>
          <p:nvPr/>
        </p:nvSpPr>
        <p:spPr>
          <a:xfrm>
            <a:off x="254000" y="152400"/>
            <a:ext cx="10668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5" name="chrome team 5"/>
          <p:cNvSpPr txBox="1"/>
          <p:nvPr/>
        </p:nvSpPr>
        <p:spPr>
          <a:xfrm>
            <a:off x="254000" y="317500"/>
            <a:ext cx="1104900" cy="2232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950" b="1" dirty="0">
                <a:solidFill>
                  <a:srgbClr val="1F4E79"/>
                </a:solidFill>
                <a:latin typeface="Arial"/>
                <a:cs typeface="Arial"/>
              </a:rPr>
              <a:t>NiyamDrishti</a:t>
            </a:r>
          </a:p>
        </p:txBody>
      </p:sp>
      <p:sp>
        <p:nvSpPr>
          <p:cNvPr id="6" name="chrome footer 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hrome foot text 7"/>
          <p:cNvSpPr txBox="1"/>
          <p:nvPr/>
        </p:nvSpPr>
        <p:spPr>
          <a:xfrm>
            <a:off x="0" y="6642100"/>
            <a:ext cx="12230100" cy="199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850" b="0" dirty="0">
                <a:solidFill>
                  <a:srgbClr val="FFFFFF"/>
                </a:solidFill>
                <a:latin typeface="Arial"/>
                <a:cs typeface="Arial"/>
              </a:rPr>
              <a:t>@SIH Idea submission- Template</a:t>
            </a:r>
          </a:p>
        </p:txBody>
      </p:sp>
      <p:sp>
        <p:nvSpPr>
          <p:cNvPr id="8" name="chrome page 8"/>
          <p:cNvSpPr txBox="1"/>
          <p:nvPr/>
        </p:nvSpPr>
        <p:spPr>
          <a:xfrm>
            <a:off x="11760200" y="6642100"/>
            <a:ext cx="292100" cy="2114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lang="en-IN" sz="9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9" name="chrome mark rule 9"/>
          <p:cNvSpPr/>
          <p:nvPr/>
        </p:nvSpPr>
        <p:spPr>
          <a:xfrm>
            <a:off x="9855200" y="203200"/>
            <a:ext cx="17780" cy="533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hrome mark1 10"/>
          <p:cNvSpPr txBox="1"/>
          <p:nvPr/>
        </p:nvSpPr>
        <p:spPr>
          <a:xfrm>
            <a:off x="10007600" y="2032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5B8DB8"/>
                </a:solidFill>
                <a:latin typeface="Arial"/>
                <a:cs typeface="Arial"/>
              </a:rPr>
              <a:t>SMART INDIA</a:t>
            </a:r>
          </a:p>
        </p:txBody>
      </p:sp>
      <p:sp>
        <p:nvSpPr>
          <p:cNvPr id="11" name="chrome mark2 11"/>
          <p:cNvSpPr txBox="1"/>
          <p:nvPr/>
        </p:nvSpPr>
        <p:spPr>
          <a:xfrm>
            <a:off x="10007600" y="3810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HACKATHON</a:t>
            </a:r>
          </a:p>
        </p:txBody>
      </p:sp>
      <p:sp>
        <p:nvSpPr>
          <p:cNvPr id="12" name="chrome mark3 12"/>
          <p:cNvSpPr txBox="1"/>
          <p:nvPr/>
        </p:nvSpPr>
        <p:spPr>
          <a:xfrm>
            <a:off x="10007600" y="5588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2026</a:t>
            </a:r>
          </a:p>
        </p:txBody>
      </p:sp>
      <p:sp>
        <p:nvSpPr>
          <p:cNvPr id="13" name="panel 13"/>
          <p:cNvSpPr/>
          <p:nvPr/>
        </p:nvSpPr>
        <p:spPr>
          <a:xfrm>
            <a:off x="279400" y="787400"/>
            <a:ext cx="5918200" cy="3547466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14" name="panel head 14"/>
          <p:cNvSpPr/>
          <p:nvPr/>
        </p:nvSpPr>
        <p:spPr>
          <a:xfrm>
            <a:off x="279400" y="787400"/>
            <a:ext cx="59182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hd rule 15"/>
          <p:cNvSpPr/>
          <p:nvPr/>
        </p:nvSpPr>
        <p:spPr>
          <a:xfrm>
            <a:off x="279400" y="1080770"/>
            <a:ext cx="59182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419100" y="876300"/>
            <a:ext cx="56769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❖ Feasibility of the idea</a:t>
            </a:r>
          </a:p>
        </p:txBody>
      </p:sp>
      <p:sp>
        <p:nvSpPr>
          <p:cNvPr id="17" name="tick 17"/>
          <p:cNvSpPr/>
          <p:nvPr/>
        </p:nvSpPr>
        <p:spPr>
          <a:xfrm>
            <a:off x="419100" y="1231900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533400" y="1209040"/>
            <a:ext cx="55626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B3541E"/>
                </a:solidFill>
                <a:latin typeface="Arial"/>
                <a:cs typeface="Arial"/>
              </a:rPr>
              <a:t>Technical</a:t>
            </a:r>
          </a:p>
        </p:txBody>
      </p:sp>
      <p:sp>
        <p:nvSpPr>
          <p:cNvPr id="19" name="mark 19"/>
          <p:cNvSpPr txBox="1"/>
          <p:nvPr/>
        </p:nvSpPr>
        <p:spPr>
          <a:xfrm>
            <a:off x="469900" y="1397000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0" name="bul 20"/>
          <p:cNvSpPr txBox="1"/>
          <p:nvPr/>
        </p:nvSpPr>
        <p:spPr>
          <a:xfrm>
            <a:off x="592963" y="1397000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The measurement pipeline is implemented and reproducible: re-runs are bit-identical and 352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automated tests pass.</a:t>
            </a:r>
          </a:p>
        </p:txBody>
      </p:sp>
      <p:sp>
        <p:nvSpPr>
          <p:cNvPr id="21" name="mark 21"/>
          <p:cNvSpPr txBox="1"/>
          <p:nvPr/>
        </p:nvSpPr>
        <p:spPr>
          <a:xfrm>
            <a:off x="469900" y="1751178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2" name="bul 22"/>
          <p:cNvSpPr txBox="1"/>
          <p:nvPr/>
        </p:nvSpPr>
        <p:spPr>
          <a:xfrm>
            <a:off x="592963" y="1751178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No third-party numerical stack, so the same arithmetic ports to the device.</a:t>
            </a:r>
          </a:p>
        </p:txBody>
      </p:sp>
      <p:sp>
        <p:nvSpPr>
          <p:cNvPr id="23" name="mark 23"/>
          <p:cNvSpPr txBox="1"/>
          <p:nvPr/>
        </p:nvSpPr>
        <p:spPr>
          <a:xfrm>
            <a:off x="469900" y="1947316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4" name="bul 24"/>
          <p:cNvSpPr txBox="1"/>
          <p:nvPr/>
        </p:nvSpPr>
        <p:spPr>
          <a:xfrm>
            <a:off x="592963" y="1947316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Measured cost about 1.3 s per 12 MP frame single-threaded — a burst takes seconds.</a:t>
            </a:r>
          </a:p>
        </p:txBody>
      </p:sp>
      <p:sp>
        <p:nvSpPr>
          <p:cNvPr id="25" name="tick 25"/>
          <p:cNvSpPr/>
          <p:nvPr/>
        </p:nvSpPr>
        <p:spPr>
          <a:xfrm>
            <a:off x="419100" y="2283155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533400" y="2260295"/>
            <a:ext cx="55626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B3541E"/>
                </a:solidFill>
                <a:latin typeface="Arial"/>
                <a:cs typeface="Arial"/>
              </a:rPr>
              <a:t>Operational</a:t>
            </a:r>
          </a:p>
        </p:txBody>
      </p:sp>
      <p:sp>
        <p:nvSpPr>
          <p:cNvPr id="27" name="mark 27"/>
          <p:cNvSpPr txBox="1"/>
          <p:nvPr/>
        </p:nvSpPr>
        <p:spPr>
          <a:xfrm>
            <a:off x="469900" y="2448255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8" name="bul 28"/>
          <p:cNvSpPr txBox="1"/>
          <p:nvPr/>
        </p:nvSpPr>
        <p:spPr>
          <a:xfrm>
            <a:off x="592963" y="2448255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The field kit is a phone plus a printed co-planar reference frame; no bench instrument travels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to the shop.</a:t>
            </a:r>
          </a:p>
        </p:txBody>
      </p:sp>
      <p:sp>
        <p:nvSpPr>
          <p:cNvPr id="29" name="mark 29"/>
          <p:cNvSpPr txBox="1"/>
          <p:nvPr/>
        </p:nvSpPr>
        <p:spPr>
          <a:xfrm>
            <a:off x="469900" y="2802433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30" name="bul 30"/>
          <p:cNvSpPr txBox="1"/>
          <p:nvPr/>
        </p:nvSpPr>
        <p:spPr>
          <a:xfrm>
            <a:off x="592963" y="2802433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Offline by design: the inspection completes with no network.</a:t>
            </a:r>
          </a:p>
        </p:txBody>
      </p:sp>
      <p:sp>
        <p:nvSpPr>
          <p:cNvPr id="31" name="mark 31"/>
          <p:cNvSpPr txBox="1"/>
          <p:nvPr/>
        </p:nvSpPr>
        <p:spPr>
          <a:xfrm>
            <a:off x="469900" y="2998572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32" name="bul 32"/>
          <p:cNvSpPr txBox="1"/>
          <p:nvPr/>
        </p:nvSpPr>
        <p:spPr>
          <a:xfrm>
            <a:off x="592963" y="2998572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Training is a short protocol card, because the app refuses conditions it cannot handle.</a:t>
            </a:r>
          </a:p>
        </p:txBody>
      </p:sp>
      <p:sp>
        <p:nvSpPr>
          <p:cNvPr id="33" name="tick 33"/>
          <p:cNvSpPr/>
          <p:nvPr/>
        </p:nvSpPr>
        <p:spPr>
          <a:xfrm>
            <a:off x="419100" y="3334410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533400" y="3311550"/>
            <a:ext cx="55626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B3541E"/>
                </a:solidFill>
                <a:latin typeface="Arial"/>
                <a:cs typeface="Arial"/>
              </a:rPr>
              <a:t>Legal and ethical</a:t>
            </a:r>
          </a:p>
        </p:txBody>
      </p:sp>
      <p:sp>
        <p:nvSpPr>
          <p:cNvPr id="35" name="mark 35"/>
          <p:cNvSpPr txBox="1"/>
          <p:nvPr/>
        </p:nvSpPr>
        <p:spPr>
          <a:xfrm>
            <a:off x="469900" y="3499510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36" name="bul 36"/>
          <p:cNvSpPr txBox="1"/>
          <p:nvPr/>
        </p:nvSpPr>
        <p:spPr>
          <a:xfrm>
            <a:off x="592963" y="3499510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Screening assistance: the officer records the determination, the app records the evidence.</a:t>
            </a:r>
          </a:p>
        </p:txBody>
      </p:sp>
      <p:sp>
        <p:nvSpPr>
          <p:cNvPr id="37" name="mark 37"/>
          <p:cNvSpPr txBox="1"/>
          <p:nvPr/>
        </p:nvSpPr>
        <p:spPr>
          <a:xfrm>
            <a:off x="469900" y="3695649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38" name="bul 38"/>
          <p:cNvSpPr txBox="1"/>
          <p:nvPr/>
        </p:nvSpPr>
        <p:spPr>
          <a:xfrm>
            <a:off x="592963" y="3695649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Rule-version aware and date-selected, so a past inspection stays evaluable under the rules of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its own date.</a:t>
            </a:r>
          </a:p>
        </p:txBody>
      </p:sp>
      <p:sp>
        <p:nvSpPr>
          <p:cNvPr id="39" name="mark 39"/>
          <p:cNvSpPr txBox="1"/>
          <p:nvPr/>
        </p:nvSpPr>
        <p:spPr>
          <a:xfrm>
            <a:off x="469900" y="4049827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40" name="bul 40"/>
          <p:cNvSpPr txBox="1"/>
          <p:nvPr/>
        </p:nvSpPr>
        <p:spPr>
          <a:xfrm>
            <a:off x="592963" y="4049827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Local-only storage by default; sync is opt-in.</a:t>
            </a:r>
          </a:p>
        </p:txBody>
      </p:sp>
      <p:sp>
        <p:nvSpPr>
          <p:cNvPr id="41" name="panel 41"/>
          <p:cNvSpPr/>
          <p:nvPr/>
        </p:nvSpPr>
        <p:spPr>
          <a:xfrm>
            <a:off x="279400" y="4487266"/>
            <a:ext cx="5918200" cy="1675384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42" name="panel head 42"/>
          <p:cNvSpPr/>
          <p:nvPr/>
        </p:nvSpPr>
        <p:spPr>
          <a:xfrm>
            <a:off x="279400" y="4487266"/>
            <a:ext cx="59182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hd rule 43"/>
          <p:cNvSpPr/>
          <p:nvPr/>
        </p:nvSpPr>
        <p:spPr>
          <a:xfrm>
            <a:off x="279400" y="4780636"/>
            <a:ext cx="59182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419100" y="4576166"/>
            <a:ext cx="56769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Pre-committed stop conditions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457200" y="4893666"/>
            <a:ext cx="12573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C1 fails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778000" y="4893666"/>
            <a:ext cx="4279900" cy="2220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40" b="0" dirty="0">
                <a:solidFill>
                  <a:srgbClr val="333333"/>
                </a:solidFill>
                <a:latin typeface="Arial"/>
                <a:cs typeface="Arial"/>
              </a:rPr>
              <a:t>the pipeline arithmetic is wrong — fix before any physical work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457200" y="5134712"/>
            <a:ext cx="12573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P1 fails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778000" y="5134712"/>
            <a:ext cx="4279900" cy="2220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40" b="0" dirty="0">
                <a:solidFill>
                  <a:srgbClr val="333333"/>
                </a:solidFill>
                <a:latin typeface="Arial"/>
                <a:cs typeface="Arial"/>
              </a:rPr>
              <a:t>no usable ground truth — no accuracy claim of any kind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457200" y="5375758"/>
            <a:ext cx="12573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P2 or P6 fails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1778000" y="5375758"/>
            <a:ext cx="4279900" cy="2220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40" b="0" dirty="0">
                <a:solidFill>
                  <a:srgbClr val="333333"/>
                </a:solidFill>
                <a:latin typeface="Arial"/>
                <a:cs typeface="Arial"/>
              </a:rPr>
              <a:t>the measurement claim is downgraded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457200" y="5616804"/>
            <a:ext cx="125730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60" b="1" dirty="0">
                <a:solidFill>
                  <a:srgbClr val="1F4E79"/>
                </a:solidFill>
                <a:latin typeface="Arial"/>
                <a:cs typeface="Arial"/>
              </a:rPr>
              <a:t>P5 fails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1778000" y="5616804"/>
            <a:ext cx="4279900" cy="2220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40" b="0" dirty="0">
                <a:solidFill>
                  <a:srgbClr val="333333"/>
                </a:solidFill>
                <a:latin typeface="Arial"/>
                <a:cs typeface="Arial"/>
              </a:rPr>
              <a:t>the capture protocol changes, never the threshold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457200" y="5883250"/>
            <a:ext cx="5600700" cy="2101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Written down before the experiment, so a disappointing result cannot be answered by moving a threshold.</a:t>
            </a:r>
          </a:p>
        </p:txBody>
      </p:sp>
      <p:sp>
        <p:nvSpPr>
          <p:cNvPr id="54" name="panel 54"/>
          <p:cNvSpPr/>
          <p:nvPr/>
        </p:nvSpPr>
        <p:spPr>
          <a:xfrm>
            <a:off x="6350000" y="787400"/>
            <a:ext cx="5562600" cy="4076040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55" name="panel head 55"/>
          <p:cNvSpPr/>
          <p:nvPr/>
        </p:nvSpPr>
        <p:spPr>
          <a:xfrm>
            <a:off x="6350000" y="787400"/>
            <a:ext cx="55626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hd rule 56"/>
          <p:cNvSpPr/>
          <p:nvPr/>
        </p:nvSpPr>
        <p:spPr>
          <a:xfrm>
            <a:off x="6350000" y="1080770"/>
            <a:ext cx="55626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6489700" y="876300"/>
            <a:ext cx="53213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❖ Challenges, risks and how each is handled</a:t>
            </a:r>
          </a:p>
        </p:txBody>
      </p:sp>
      <p:sp>
        <p:nvSpPr>
          <p:cNvPr id="58" name="rtick 58"/>
          <p:cNvSpPr/>
          <p:nvPr/>
        </p:nvSpPr>
        <p:spPr>
          <a:xfrm>
            <a:off x="6515100" y="1234440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6629400" y="1209040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Curved, flexible or embossed packs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629400" y="1389380"/>
            <a:ext cx="5143500" cy="373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Declared out of scope. Out-of-plane print is invisible to a single view — measured 0.185 mm error</a:t>
            </a:r>
          </a:p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with every gate green — so flatness is a fixture requirement and the app abstains instead.</a:t>
            </a:r>
          </a:p>
        </p:txBody>
      </p:sp>
      <p:sp>
        <p:nvSpPr>
          <p:cNvPr id="61" name="rtick 61"/>
          <p:cNvSpPr/>
          <p:nvPr/>
        </p:nvSpPr>
        <p:spPr>
          <a:xfrm>
            <a:off x="6515100" y="1842872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ext 62"/>
          <p:cNvSpPr txBox="1"/>
          <p:nvPr/>
        </p:nvSpPr>
        <p:spPr>
          <a:xfrm>
            <a:off x="6629400" y="1817472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No trustworthy ground truth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629400" y="1997812"/>
            <a:ext cx="5143500" cy="373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An independent reference procedure is pre-registered: a 2400 dpi scan as primary and a</a:t>
            </a:r>
          </a:p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measuring-microscope cross-check, with criterion P1 gating every accuracy claim.</a:t>
            </a:r>
          </a:p>
        </p:txBody>
      </p:sp>
      <p:sp>
        <p:nvSpPr>
          <p:cNvPr id="64" name="rtick 64"/>
          <p:cNvSpPr/>
          <p:nvPr/>
        </p:nvSpPr>
        <p:spPr>
          <a:xfrm>
            <a:off x="6515100" y="2451303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6629400" y="2425903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The interval is not yet calibrated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6629400" y="2606243"/>
            <a:ext cx="5143500" cy="373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k = 1.645 is reported as nominal. P7 collects empirical coverage as calibration evidence and can</a:t>
            </a:r>
          </a:p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never be shown as a validated interval.</a:t>
            </a:r>
          </a:p>
        </p:txBody>
      </p:sp>
      <p:sp>
        <p:nvSpPr>
          <p:cNvPr id="67" name="rtick 67"/>
          <p:cNvSpPr/>
          <p:nvPr/>
        </p:nvSpPr>
        <p:spPr>
          <a:xfrm>
            <a:off x="6515100" y="3059735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text 68"/>
          <p:cNvSpPr txBox="1"/>
          <p:nvPr/>
        </p:nvSpPr>
        <p:spPr>
          <a:xfrm>
            <a:off x="6629400" y="3034335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OCR or transcription error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6629400" y="3214675"/>
            <a:ext cx="5143500" cy="373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Every field keeps its source crop for officer review, and cross-face contradictions are surfaced</a:t>
            </a:r>
          </a:p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rather than resolved.</a:t>
            </a:r>
          </a:p>
        </p:txBody>
      </p:sp>
      <p:sp>
        <p:nvSpPr>
          <p:cNvPr id="70" name="rtick 70"/>
          <p:cNvSpPr/>
          <p:nvPr/>
        </p:nvSpPr>
        <p:spPr>
          <a:xfrm>
            <a:off x="6515100" y="3668166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ext 71"/>
          <p:cNvSpPr txBox="1"/>
          <p:nvPr/>
        </p:nvSpPr>
        <p:spPr>
          <a:xfrm>
            <a:off x="6629400" y="3642766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Reference equipment access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6629400" y="3823106"/>
            <a:ext cx="5143500" cy="373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The minimum setup is documented — 2400 dpi scanner, certified length standard, measuring</a:t>
            </a:r>
          </a:p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microscope — with machine-checked readiness gates before capture.</a:t>
            </a:r>
          </a:p>
        </p:txBody>
      </p:sp>
      <p:sp>
        <p:nvSpPr>
          <p:cNvPr id="73" name="rtick 73"/>
          <p:cNvSpPr/>
          <p:nvPr/>
        </p:nvSpPr>
        <p:spPr>
          <a:xfrm>
            <a:off x="6515100" y="4276598"/>
            <a:ext cx="40640" cy="12065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text 74"/>
          <p:cNvSpPr txBox="1"/>
          <p:nvPr/>
        </p:nvSpPr>
        <p:spPr>
          <a:xfrm>
            <a:off x="6629400" y="4251198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Which glyphs the rule counts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6629400" y="4431538"/>
            <a:ext cx="5143500" cy="373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The threshold is configurable per rule version, and the measurand is documented as a proxy</a:t>
            </a:r>
          </a:p>
          <a:p>
            <a:pPr algn="l">
              <a:lnSpc>
                <a:spcPct val="128000"/>
              </a:lnSpc>
            </a:pPr>
            <a:r>
              <a:rPr lang="en-IN" sz="930" b="0" dirty="0">
                <a:solidFill>
                  <a:srgbClr val="333333"/>
                </a:solidFill>
                <a:latin typeface="Arial"/>
                <a:cs typeface="Arial"/>
              </a:rPr>
              <a:t>pending confirmation with the administering authority.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hrome title 2"/>
          <p:cNvSpPr txBox="1"/>
          <p:nvPr/>
        </p:nvSpPr>
        <p:spPr>
          <a:xfrm>
            <a:off x="1498600" y="254000"/>
            <a:ext cx="8928100" cy="587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2500" b="1" dirty="0">
                <a:solidFill>
                  <a:srgbClr val="1F4E79"/>
                </a:solidFill>
                <a:latin typeface="Times New Roman"/>
                <a:cs typeface="Times New Roman"/>
              </a:rPr>
              <a:t>IMPACT AND BENEFITS</a:t>
            </a:r>
          </a:p>
        </p:txBody>
      </p:sp>
      <p:sp>
        <p:nvSpPr>
          <p:cNvPr id="3" name="chrome rule 3"/>
          <p:cNvSpPr/>
          <p:nvPr/>
        </p:nvSpPr>
        <p:spPr>
          <a:xfrm>
            <a:off x="1498600" y="685800"/>
            <a:ext cx="8890000" cy="177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rome team badge 4"/>
          <p:cNvSpPr/>
          <p:nvPr/>
        </p:nvSpPr>
        <p:spPr>
          <a:xfrm>
            <a:off x="254000" y="152400"/>
            <a:ext cx="10668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5" name="chrome team 5"/>
          <p:cNvSpPr txBox="1"/>
          <p:nvPr/>
        </p:nvSpPr>
        <p:spPr>
          <a:xfrm>
            <a:off x="254000" y="317500"/>
            <a:ext cx="1104900" cy="2232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950" b="1" dirty="0">
                <a:solidFill>
                  <a:srgbClr val="1F4E79"/>
                </a:solidFill>
                <a:latin typeface="Arial"/>
                <a:cs typeface="Arial"/>
              </a:rPr>
              <a:t>NiyamDrishti</a:t>
            </a:r>
          </a:p>
        </p:txBody>
      </p:sp>
      <p:sp>
        <p:nvSpPr>
          <p:cNvPr id="6" name="chrome footer 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hrome foot text 7"/>
          <p:cNvSpPr txBox="1"/>
          <p:nvPr/>
        </p:nvSpPr>
        <p:spPr>
          <a:xfrm>
            <a:off x="0" y="6642100"/>
            <a:ext cx="12230100" cy="199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850" b="0" dirty="0">
                <a:solidFill>
                  <a:srgbClr val="FFFFFF"/>
                </a:solidFill>
                <a:latin typeface="Arial"/>
                <a:cs typeface="Arial"/>
              </a:rPr>
              <a:t>@SIH Idea submission- Template</a:t>
            </a:r>
          </a:p>
        </p:txBody>
      </p:sp>
      <p:sp>
        <p:nvSpPr>
          <p:cNvPr id="8" name="chrome page 8"/>
          <p:cNvSpPr txBox="1"/>
          <p:nvPr/>
        </p:nvSpPr>
        <p:spPr>
          <a:xfrm>
            <a:off x="11760200" y="6642100"/>
            <a:ext cx="292100" cy="2114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lang="en-IN" sz="9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9" name="chrome mark rule 9"/>
          <p:cNvSpPr/>
          <p:nvPr/>
        </p:nvSpPr>
        <p:spPr>
          <a:xfrm>
            <a:off x="9855200" y="203200"/>
            <a:ext cx="17780" cy="533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hrome mark1 10"/>
          <p:cNvSpPr txBox="1"/>
          <p:nvPr/>
        </p:nvSpPr>
        <p:spPr>
          <a:xfrm>
            <a:off x="10007600" y="2032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5B8DB8"/>
                </a:solidFill>
                <a:latin typeface="Arial"/>
                <a:cs typeface="Arial"/>
              </a:rPr>
              <a:t>SMART INDIA</a:t>
            </a:r>
          </a:p>
        </p:txBody>
      </p:sp>
      <p:sp>
        <p:nvSpPr>
          <p:cNvPr id="11" name="chrome mark2 11"/>
          <p:cNvSpPr txBox="1"/>
          <p:nvPr/>
        </p:nvSpPr>
        <p:spPr>
          <a:xfrm>
            <a:off x="10007600" y="3810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HACKATHON</a:t>
            </a:r>
          </a:p>
        </p:txBody>
      </p:sp>
      <p:sp>
        <p:nvSpPr>
          <p:cNvPr id="12" name="chrome mark3 12"/>
          <p:cNvSpPr txBox="1"/>
          <p:nvPr/>
        </p:nvSpPr>
        <p:spPr>
          <a:xfrm>
            <a:off x="10007600" y="5588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2026</a:t>
            </a:r>
          </a:p>
        </p:txBody>
      </p:sp>
      <p:sp>
        <p:nvSpPr>
          <p:cNvPr id="13" name="panel 13"/>
          <p:cNvSpPr/>
          <p:nvPr/>
        </p:nvSpPr>
        <p:spPr>
          <a:xfrm>
            <a:off x="279400" y="787400"/>
            <a:ext cx="5918200" cy="2109572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14" name="panel head 14"/>
          <p:cNvSpPr/>
          <p:nvPr/>
        </p:nvSpPr>
        <p:spPr>
          <a:xfrm>
            <a:off x="279400" y="787400"/>
            <a:ext cx="59182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hd rule 15"/>
          <p:cNvSpPr/>
          <p:nvPr/>
        </p:nvSpPr>
        <p:spPr>
          <a:xfrm>
            <a:off x="279400" y="1080770"/>
            <a:ext cx="59182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419100" y="876300"/>
            <a:ext cx="56769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❖ Potential impact on the target audience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31800" y="1193800"/>
            <a:ext cx="56515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B3541E"/>
                </a:solidFill>
                <a:latin typeface="Arial"/>
                <a:cs typeface="Arial"/>
              </a:rPr>
              <a:t>Primary user: the Legal Metrology field officer or inspector.</a:t>
            </a:r>
          </a:p>
        </p:txBody>
      </p:sp>
      <p:sp>
        <p:nvSpPr>
          <p:cNvPr id="18" name="mark 18"/>
          <p:cNvSpPr txBox="1"/>
          <p:nvPr/>
        </p:nvSpPr>
        <p:spPr>
          <a:xfrm>
            <a:off x="469900" y="1447800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9" name="bul 19"/>
          <p:cNvSpPr txBox="1"/>
          <p:nvPr/>
        </p:nvSpPr>
        <p:spPr>
          <a:xfrm>
            <a:off x="592963" y="1447800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A structured pass over the package faces, with coverage tracked instead of remembered.</a:t>
            </a:r>
          </a:p>
        </p:txBody>
      </p:sp>
      <p:sp>
        <p:nvSpPr>
          <p:cNvPr id="20" name="mark 20"/>
          <p:cNvSpPr txBox="1"/>
          <p:nvPr/>
        </p:nvSpPr>
        <p:spPr>
          <a:xfrm>
            <a:off x="469900" y="1643939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1" name="bul 21"/>
          <p:cNvSpPr txBox="1"/>
          <p:nvPr/>
        </p:nvSpPr>
        <p:spPr>
          <a:xfrm>
            <a:off x="592963" y="1643939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Evidence captured once at the point of inspection, so declarations are not re-typed later.</a:t>
            </a:r>
          </a:p>
        </p:txBody>
      </p:sp>
      <p:sp>
        <p:nvSpPr>
          <p:cNvPr id="22" name="mark 22"/>
          <p:cNvSpPr txBox="1"/>
          <p:nvPr/>
        </p:nvSpPr>
        <p:spPr>
          <a:xfrm>
            <a:off x="469900" y="1840078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3" name="bul 23"/>
          <p:cNvSpPr txBox="1"/>
          <p:nvPr/>
        </p:nvSpPr>
        <p:spPr>
          <a:xfrm>
            <a:off x="592963" y="1840078"/>
            <a:ext cx="5452237" cy="3938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Conditions that cannot be read are recorded as such: the officer is told what was not</a:t>
            </a:r>
          </a:p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established.</a:t>
            </a:r>
          </a:p>
        </p:txBody>
      </p:sp>
      <p:sp>
        <p:nvSpPr>
          <p:cNvPr id="24" name="mark 24"/>
          <p:cNvSpPr txBox="1"/>
          <p:nvPr/>
        </p:nvSpPr>
        <p:spPr>
          <a:xfrm>
            <a:off x="469900" y="2194255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5" name="bul 25"/>
          <p:cNvSpPr txBox="1"/>
          <p:nvPr/>
        </p:nvSpPr>
        <p:spPr>
          <a:xfrm>
            <a:off x="592963" y="2194255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A reproducible record — same inputs, same output — with rule and engine versions attached.</a:t>
            </a:r>
          </a:p>
        </p:txBody>
      </p:sp>
      <p:sp>
        <p:nvSpPr>
          <p:cNvPr id="26" name="mark 26"/>
          <p:cNvSpPr txBox="1"/>
          <p:nvPr/>
        </p:nvSpPr>
        <p:spPr>
          <a:xfrm>
            <a:off x="469900" y="2390394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7" name="bul 27"/>
          <p:cNvSpPr txBox="1"/>
          <p:nvPr/>
        </p:nvSpPr>
        <p:spPr>
          <a:xfrm>
            <a:off x="592963" y="2390394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Supervisory review becomes re-tracing evidence instead of reconstructing a visit.</a:t>
            </a:r>
          </a:p>
        </p:txBody>
      </p:sp>
      <p:sp>
        <p:nvSpPr>
          <p:cNvPr id="28" name="mark 28"/>
          <p:cNvSpPr txBox="1"/>
          <p:nvPr/>
        </p:nvSpPr>
        <p:spPr>
          <a:xfrm>
            <a:off x="469900" y="2586533"/>
            <a:ext cx="161163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29" name="bul 29"/>
          <p:cNvSpPr txBox="1"/>
          <p:nvPr/>
        </p:nvSpPr>
        <p:spPr>
          <a:xfrm>
            <a:off x="592963" y="2586533"/>
            <a:ext cx="5452237" cy="235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Works in a shop, godown or checkpoint with no connectivity.</a:t>
            </a:r>
          </a:p>
        </p:txBody>
      </p:sp>
      <p:sp>
        <p:nvSpPr>
          <p:cNvPr id="30" name="panel 30"/>
          <p:cNvSpPr/>
          <p:nvPr/>
        </p:nvSpPr>
        <p:spPr>
          <a:xfrm>
            <a:off x="279400" y="3049372"/>
            <a:ext cx="5918200" cy="1422400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31" name="panel head 31"/>
          <p:cNvSpPr/>
          <p:nvPr/>
        </p:nvSpPr>
        <p:spPr>
          <a:xfrm>
            <a:off x="279400" y="3049372"/>
            <a:ext cx="59182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hd rule 32"/>
          <p:cNvSpPr/>
          <p:nvPr/>
        </p:nvSpPr>
        <p:spPr>
          <a:xfrm>
            <a:off x="279400" y="3342742"/>
            <a:ext cx="59182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419100" y="3138272"/>
            <a:ext cx="56769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Deliberate limits, stated up front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44500" y="3455772"/>
            <a:ext cx="1773767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Scope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444500" y="3633572"/>
            <a:ext cx="1773767" cy="3520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900" b="0" dirty="0">
                <a:solidFill>
                  <a:srgbClr val="5A6672"/>
                </a:solidFill>
                <a:latin typeface="Arial"/>
                <a:cs typeface="Arial"/>
              </a:rPr>
              <a:t>planar printed faces, controlled</a:t>
            </a:r>
          </a:p>
          <a:p>
            <a:pPr algn="l">
              <a:lnSpc>
                <a:spcPct val="124000"/>
              </a:lnSpc>
            </a:pPr>
            <a:r>
              <a:rPr lang="en-IN" sz="900" b="0" dirty="0">
                <a:solidFill>
                  <a:srgbClr val="5A6672"/>
                </a:solidFill>
                <a:latin typeface="Arial"/>
                <a:cs typeface="Arial"/>
              </a:rPr>
              <a:t>capture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2307167" y="3455772"/>
            <a:ext cx="1773767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Role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2307167" y="3633572"/>
            <a:ext cx="1773767" cy="3520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900" b="0" dirty="0">
                <a:solidFill>
                  <a:srgbClr val="5A6672"/>
                </a:solidFill>
                <a:latin typeface="Arial"/>
                <a:cs typeface="Arial"/>
              </a:rPr>
              <a:t>screening assistance, not</a:t>
            </a:r>
          </a:p>
          <a:p>
            <a:pPr algn="l">
              <a:lnSpc>
                <a:spcPct val="124000"/>
              </a:lnSpc>
            </a:pPr>
            <a:r>
              <a:rPr lang="en-IN" sz="900" b="0" dirty="0">
                <a:solidFill>
                  <a:srgbClr val="5A6672"/>
                </a:solidFill>
                <a:latin typeface="Arial"/>
                <a:cs typeface="Arial"/>
              </a:rPr>
              <a:t>adjudication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4169833" y="3455772"/>
            <a:ext cx="1773767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Decision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4169833" y="3633572"/>
            <a:ext cx="1773767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900" b="0" dirty="0">
                <a:solidFill>
                  <a:srgbClr val="5A6672"/>
                </a:solidFill>
                <a:latin typeface="Arial"/>
                <a:cs typeface="Arial"/>
              </a:rPr>
              <a:t>the officer determines compliance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444500" y="4090772"/>
            <a:ext cx="56261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Stating this on the record is part of the design: a screening tool that overstates its reach is worse than one that</a:t>
            </a:r>
          </a:p>
          <a:p>
            <a:pPr algn="l">
              <a:lnSpc>
                <a:spcPct val="130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refuses a case.</a:t>
            </a:r>
          </a:p>
        </p:txBody>
      </p:sp>
      <p:sp>
        <p:nvSpPr>
          <p:cNvPr id="41" name="panel 41"/>
          <p:cNvSpPr/>
          <p:nvPr/>
        </p:nvSpPr>
        <p:spPr>
          <a:xfrm>
            <a:off x="279400" y="4624172"/>
            <a:ext cx="5918200" cy="1498600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42" name="panel head 42"/>
          <p:cNvSpPr/>
          <p:nvPr/>
        </p:nvSpPr>
        <p:spPr>
          <a:xfrm>
            <a:off x="279400" y="4624172"/>
            <a:ext cx="59182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hd rule 43"/>
          <p:cNvSpPr/>
          <p:nvPr/>
        </p:nvSpPr>
        <p:spPr>
          <a:xfrm>
            <a:off x="279400" y="4917542"/>
            <a:ext cx="59182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419100" y="4713072"/>
            <a:ext cx="56769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What “evidence-linked” means here</a:t>
            </a:r>
          </a:p>
        </p:txBody>
      </p:sp>
      <p:sp>
        <p:nvSpPr>
          <p:cNvPr id="45" name="chain 45"/>
          <p:cNvSpPr/>
          <p:nvPr/>
        </p:nvSpPr>
        <p:spPr>
          <a:xfrm>
            <a:off x="444500" y="5030572"/>
            <a:ext cx="1005840" cy="38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46" name="chain tick 46"/>
          <p:cNvSpPr/>
          <p:nvPr/>
        </p:nvSpPr>
        <p:spPr>
          <a:xfrm>
            <a:off x="444500" y="5030572"/>
            <a:ext cx="1005840" cy="3302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508000" y="5119472"/>
            <a:ext cx="916940" cy="30408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lang="en-IN" sz="820" b="1" dirty="0">
                <a:solidFill>
                  <a:srgbClr val="1F4E79"/>
                </a:solidFill>
                <a:latin typeface="Arial"/>
                <a:cs typeface="Arial"/>
              </a:rPr>
              <a:t>Candidate</a:t>
            </a:r>
          </a:p>
          <a:p>
            <a:pPr algn="ctr">
              <a:lnSpc>
                <a:spcPct val="116000"/>
              </a:lnSpc>
            </a:pPr>
            <a:r>
              <a:rPr lang="en-IN" sz="820" b="1" dirty="0">
                <a:solidFill>
                  <a:srgbClr val="1F4E79"/>
                </a:solidFill>
                <a:latin typeface="Arial"/>
                <a:cs typeface="Arial"/>
              </a:rPr>
              <a:t>finding</a:t>
            </a:r>
          </a:p>
        </p:txBody>
      </p:sp>
      <p:sp>
        <p:nvSpPr>
          <p:cNvPr id="48" name="arrow 48"/>
          <p:cNvSpPr/>
          <p:nvPr/>
        </p:nvSpPr>
        <p:spPr>
          <a:xfrm>
            <a:off x="1469390" y="5170272"/>
            <a:ext cx="101600" cy="101600"/>
          </a:xfrm>
          <a:prstGeom prst="right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chain 49"/>
          <p:cNvSpPr/>
          <p:nvPr/>
        </p:nvSpPr>
        <p:spPr>
          <a:xfrm>
            <a:off x="1590040" y="5030572"/>
            <a:ext cx="1005840" cy="38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50" name="chain tick 50"/>
          <p:cNvSpPr/>
          <p:nvPr/>
        </p:nvSpPr>
        <p:spPr>
          <a:xfrm>
            <a:off x="1590040" y="5030572"/>
            <a:ext cx="1005840" cy="3302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1653540" y="5119472"/>
            <a:ext cx="916940" cy="1832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lang="en-IN" sz="820" b="1" dirty="0">
                <a:solidFill>
                  <a:srgbClr val="1F4E79"/>
                </a:solidFill>
                <a:latin typeface="Arial"/>
                <a:cs typeface="Arial"/>
              </a:rPr>
              <a:t>Source crop</a:t>
            </a:r>
          </a:p>
        </p:txBody>
      </p:sp>
      <p:sp>
        <p:nvSpPr>
          <p:cNvPr id="52" name="arrow 52"/>
          <p:cNvSpPr/>
          <p:nvPr/>
        </p:nvSpPr>
        <p:spPr>
          <a:xfrm>
            <a:off x="2614930" y="5170272"/>
            <a:ext cx="101600" cy="101600"/>
          </a:xfrm>
          <a:prstGeom prst="right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chain 53"/>
          <p:cNvSpPr/>
          <p:nvPr/>
        </p:nvSpPr>
        <p:spPr>
          <a:xfrm>
            <a:off x="2735580" y="5030572"/>
            <a:ext cx="1005840" cy="38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54" name="chain tick 54"/>
          <p:cNvSpPr/>
          <p:nvPr/>
        </p:nvSpPr>
        <p:spPr>
          <a:xfrm>
            <a:off x="2735580" y="5030572"/>
            <a:ext cx="1005840" cy="3302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2799080" y="5119472"/>
            <a:ext cx="916940" cy="30408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lang="en-IN" sz="820" b="1" dirty="0">
                <a:solidFill>
                  <a:srgbClr val="1F4E79"/>
                </a:solidFill>
                <a:latin typeface="Arial"/>
                <a:cs typeface="Arial"/>
              </a:rPr>
              <a:t>Raw +</a:t>
            </a:r>
          </a:p>
          <a:p>
            <a:pPr algn="ctr">
              <a:lnSpc>
                <a:spcPct val="116000"/>
              </a:lnSpc>
            </a:pPr>
            <a:r>
              <a:rPr lang="en-IN" sz="820" b="1" dirty="0">
                <a:solidFill>
                  <a:srgbClr val="1F4E79"/>
                </a:solidFill>
                <a:latin typeface="Arial"/>
                <a:cs typeface="Arial"/>
              </a:rPr>
              <a:t>normalised value</a:t>
            </a:r>
          </a:p>
        </p:txBody>
      </p:sp>
      <p:sp>
        <p:nvSpPr>
          <p:cNvPr id="56" name="arrow 56"/>
          <p:cNvSpPr/>
          <p:nvPr/>
        </p:nvSpPr>
        <p:spPr>
          <a:xfrm>
            <a:off x="3760470" y="5170272"/>
            <a:ext cx="101600" cy="101600"/>
          </a:xfrm>
          <a:prstGeom prst="right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chain 57"/>
          <p:cNvSpPr/>
          <p:nvPr/>
        </p:nvSpPr>
        <p:spPr>
          <a:xfrm>
            <a:off x="3881120" y="5030572"/>
            <a:ext cx="1005840" cy="38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58" name="chain tick 58"/>
          <p:cNvSpPr/>
          <p:nvPr/>
        </p:nvSpPr>
        <p:spPr>
          <a:xfrm>
            <a:off x="3881120" y="5030572"/>
            <a:ext cx="1005840" cy="3302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3944620" y="5119472"/>
            <a:ext cx="916940" cy="1832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lang="en-IN" sz="820" b="1" dirty="0">
                <a:solidFill>
                  <a:srgbClr val="1F4E79"/>
                </a:solidFill>
                <a:latin typeface="Arial"/>
                <a:cs typeface="Arial"/>
              </a:rPr>
              <a:t>Rule version</a:t>
            </a:r>
          </a:p>
        </p:txBody>
      </p:sp>
      <p:sp>
        <p:nvSpPr>
          <p:cNvPr id="60" name="arrow 60"/>
          <p:cNvSpPr/>
          <p:nvPr/>
        </p:nvSpPr>
        <p:spPr>
          <a:xfrm>
            <a:off x="4906010" y="5170272"/>
            <a:ext cx="101600" cy="101600"/>
          </a:xfrm>
          <a:prstGeom prst="rightArrow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chain 61"/>
          <p:cNvSpPr/>
          <p:nvPr/>
        </p:nvSpPr>
        <p:spPr>
          <a:xfrm>
            <a:off x="5026660" y="5030572"/>
            <a:ext cx="1005840" cy="381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62" name="chain tick 62"/>
          <p:cNvSpPr/>
          <p:nvPr/>
        </p:nvSpPr>
        <p:spPr>
          <a:xfrm>
            <a:off x="5026660" y="5030572"/>
            <a:ext cx="1005840" cy="3302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5090160" y="5119472"/>
            <a:ext cx="916940" cy="1832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lang="en-IN" sz="820" b="1" dirty="0">
                <a:solidFill>
                  <a:srgbClr val="1F4E79"/>
                </a:solidFill>
                <a:latin typeface="Arial"/>
                <a:cs typeface="Arial"/>
              </a:rPr>
              <a:t>Engine version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444500" y="5513172"/>
            <a:ext cx="5626100" cy="3486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Each link is stored, so a supervisor can re-trace a finding to the pixel it came from and to the rule text that was in</a:t>
            </a:r>
          </a:p>
          <a:p>
            <a:pPr algn="l">
              <a:lnSpc>
                <a:spcPct val="126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force.</a:t>
            </a:r>
          </a:p>
        </p:txBody>
      </p:sp>
      <p:sp>
        <p:nvSpPr>
          <p:cNvPr id="65" name="panel 65"/>
          <p:cNvSpPr/>
          <p:nvPr/>
        </p:nvSpPr>
        <p:spPr>
          <a:xfrm>
            <a:off x="6350000" y="787400"/>
            <a:ext cx="5562600" cy="4641596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66" name="panel head 66"/>
          <p:cNvSpPr/>
          <p:nvPr/>
        </p:nvSpPr>
        <p:spPr>
          <a:xfrm>
            <a:off x="6350000" y="787400"/>
            <a:ext cx="55626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hd rule 67"/>
          <p:cNvSpPr/>
          <p:nvPr/>
        </p:nvSpPr>
        <p:spPr>
          <a:xfrm>
            <a:off x="6350000" y="1080770"/>
            <a:ext cx="55626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text 68"/>
          <p:cNvSpPr txBox="1"/>
          <p:nvPr/>
        </p:nvSpPr>
        <p:spPr>
          <a:xfrm>
            <a:off x="6489700" y="876300"/>
            <a:ext cx="53213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❖ Benefits of the solution</a:t>
            </a:r>
          </a:p>
        </p:txBody>
      </p:sp>
      <p:sp>
        <p:nvSpPr>
          <p:cNvPr id="69" name="tick 69"/>
          <p:cNvSpPr/>
          <p:nvPr/>
        </p:nvSpPr>
        <p:spPr>
          <a:xfrm>
            <a:off x="6489700" y="1231900"/>
            <a:ext cx="40640" cy="1206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ext 70"/>
          <p:cNvSpPr txBox="1"/>
          <p:nvPr/>
        </p:nvSpPr>
        <p:spPr>
          <a:xfrm>
            <a:off x="6604000" y="1209040"/>
            <a:ext cx="52070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Consumer protection (social)</a:t>
            </a:r>
          </a:p>
        </p:txBody>
      </p:sp>
      <p:sp>
        <p:nvSpPr>
          <p:cNvPr id="71" name="mark 71"/>
          <p:cNvSpPr txBox="1"/>
          <p:nvPr/>
        </p:nvSpPr>
        <p:spPr>
          <a:xfrm>
            <a:off x="6540500" y="1397000"/>
            <a:ext cx="161163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72" name="bul 72"/>
          <p:cNvSpPr txBox="1"/>
          <p:nvPr/>
        </p:nvSpPr>
        <p:spPr>
          <a:xfrm>
            <a:off x="6663563" y="1397000"/>
            <a:ext cx="5096637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Declarations are screened consistently rather than from recall of the rule text.</a:t>
            </a:r>
          </a:p>
        </p:txBody>
      </p:sp>
      <p:sp>
        <p:nvSpPr>
          <p:cNvPr id="73" name="mark 73"/>
          <p:cNvSpPr txBox="1"/>
          <p:nvPr/>
        </p:nvSpPr>
        <p:spPr>
          <a:xfrm>
            <a:off x="6540500" y="1595730"/>
            <a:ext cx="161163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74" name="bul 74"/>
          <p:cNvSpPr txBox="1"/>
          <p:nvPr/>
        </p:nvSpPr>
        <p:spPr>
          <a:xfrm>
            <a:off x="6663563" y="1595730"/>
            <a:ext cx="5096637" cy="3989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Weak evidence produces an abstention, so a compliant packer is less likely to be</a:t>
            </a:r>
          </a:p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wrongly accused.</a:t>
            </a:r>
          </a:p>
        </p:txBody>
      </p:sp>
      <p:sp>
        <p:nvSpPr>
          <p:cNvPr id="75" name="tick 75"/>
          <p:cNvSpPr/>
          <p:nvPr/>
        </p:nvSpPr>
        <p:spPr>
          <a:xfrm>
            <a:off x="6489700" y="2120189"/>
            <a:ext cx="40640" cy="1206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text 76"/>
          <p:cNvSpPr txBox="1"/>
          <p:nvPr/>
        </p:nvSpPr>
        <p:spPr>
          <a:xfrm>
            <a:off x="6604000" y="2097329"/>
            <a:ext cx="52070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Administrative</a:t>
            </a:r>
          </a:p>
        </p:txBody>
      </p:sp>
      <p:sp>
        <p:nvSpPr>
          <p:cNvPr id="77" name="mark 77"/>
          <p:cNvSpPr txBox="1"/>
          <p:nvPr/>
        </p:nvSpPr>
        <p:spPr>
          <a:xfrm>
            <a:off x="6540500" y="2285289"/>
            <a:ext cx="161163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78" name="bul 78"/>
          <p:cNvSpPr txBox="1"/>
          <p:nvPr/>
        </p:nvSpPr>
        <p:spPr>
          <a:xfrm>
            <a:off x="6663563" y="2285289"/>
            <a:ext cx="5096637" cy="3989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Uniform, machine-readable records with a lineage that runs from the finding back to the</a:t>
            </a:r>
          </a:p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pixel.</a:t>
            </a:r>
          </a:p>
        </p:txBody>
      </p:sp>
      <p:sp>
        <p:nvSpPr>
          <p:cNvPr id="79" name="mark 79"/>
          <p:cNvSpPr txBox="1"/>
          <p:nvPr/>
        </p:nvSpPr>
        <p:spPr>
          <a:xfrm>
            <a:off x="6540500" y="2644648"/>
            <a:ext cx="161163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80" name="bul 80"/>
          <p:cNvSpPr txBox="1"/>
          <p:nvPr/>
        </p:nvSpPr>
        <p:spPr>
          <a:xfrm>
            <a:off x="6663563" y="2644648"/>
            <a:ext cx="5096637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Coverage and abstention rates become visible quantities a supervisor can act on.</a:t>
            </a:r>
          </a:p>
        </p:txBody>
      </p:sp>
      <p:sp>
        <p:nvSpPr>
          <p:cNvPr id="81" name="tick 81"/>
          <p:cNvSpPr/>
          <p:nvPr/>
        </p:nvSpPr>
        <p:spPr>
          <a:xfrm>
            <a:off x="6489700" y="3008478"/>
            <a:ext cx="40640" cy="1206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text 82"/>
          <p:cNvSpPr txBox="1"/>
          <p:nvPr/>
        </p:nvSpPr>
        <p:spPr>
          <a:xfrm>
            <a:off x="6604000" y="2985618"/>
            <a:ext cx="52070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Economic (qualitative)</a:t>
            </a:r>
          </a:p>
        </p:txBody>
      </p:sp>
      <p:sp>
        <p:nvSpPr>
          <p:cNvPr id="83" name="mark 83"/>
          <p:cNvSpPr txBox="1"/>
          <p:nvPr/>
        </p:nvSpPr>
        <p:spPr>
          <a:xfrm>
            <a:off x="6540500" y="3173578"/>
            <a:ext cx="161163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84" name="bul 84"/>
          <p:cNvSpPr txBox="1"/>
          <p:nvPr/>
        </p:nvSpPr>
        <p:spPr>
          <a:xfrm>
            <a:off x="6663563" y="3173578"/>
            <a:ext cx="5096637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Commodity hardware and an offline workflow, so no per-site infrastructure is needed.</a:t>
            </a:r>
          </a:p>
        </p:txBody>
      </p:sp>
      <p:sp>
        <p:nvSpPr>
          <p:cNvPr id="85" name="mark 85"/>
          <p:cNvSpPr txBox="1"/>
          <p:nvPr/>
        </p:nvSpPr>
        <p:spPr>
          <a:xfrm>
            <a:off x="6540500" y="3372307"/>
            <a:ext cx="161163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86" name="bul 86"/>
          <p:cNvSpPr txBox="1"/>
          <p:nvPr/>
        </p:nvSpPr>
        <p:spPr>
          <a:xfrm>
            <a:off x="6663563" y="3372307"/>
            <a:ext cx="5096637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Open, versioned rule packs keep maintenance inside the department.</a:t>
            </a:r>
          </a:p>
        </p:txBody>
      </p:sp>
      <p:sp>
        <p:nvSpPr>
          <p:cNvPr id="87" name="tick 87"/>
          <p:cNvSpPr/>
          <p:nvPr/>
        </p:nvSpPr>
        <p:spPr>
          <a:xfrm>
            <a:off x="6489700" y="3736137"/>
            <a:ext cx="40640" cy="1206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text 88"/>
          <p:cNvSpPr txBox="1"/>
          <p:nvPr/>
        </p:nvSpPr>
        <p:spPr>
          <a:xfrm>
            <a:off x="6604000" y="3713277"/>
            <a:ext cx="5207000" cy="244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040" b="1" dirty="0">
                <a:solidFill>
                  <a:srgbClr val="1F4E79"/>
                </a:solidFill>
                <a:latin typeface="Arial"/>
                <a:cs typeface="Arial"/>
              </a:rPr>
              <a:t>Environmental</a:t>
            </a:r>
          </a:p>
        </p:txBody>
      </p:sp>
      <p:sp>
        <p:nvSpPr>
          <p:cNvPr id="89" name="mark 89"/>
          <p:cNvSpPr txBox="1"/>
          <p:nvPr/>
        </p:nvSpPr>
        <p:spPr>
          <a:xfrm>
            <a:off x="6540500" y="3901237"/>
            <a:ext cx="161163" cy="2383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90" name="bul 90"/>
          <p:cNvSpPr txBox="1"/>
          <p:nvPr/>
        </p:nvSpPr>
        <p:spPr>
          <a:xfrm>
            <a:off x="6663563" y="3901237"/>
            <a:ext cx="5096637" cy="3989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A paperless inspection record produced on the device, printed only when a case</a:t>
            </a:r>
          </a:p>
          <a:p>
            <a:pPr algn="l">
              <a:lnSpc>
                <a:spcPct val="124000"/>
              </a:lnSpc>
            </a:pPr>
            <a:r>
              <a:rPr lang="en-IN" sz="1020" b="0" dirty="0">
                <a:solidFill>
                  <a:srgbClr val="333333"/>
                </a:solidFill>
                <a:latin typeface="Arial"/>
                <a:cs typeface="Arial"/>
              </a:rPr>
              <a:t>requires it.</a:t>
            </a:r>
          </a:p>
        </p:txBody>
      </p:sp>
      <p:sp>
        <p:nvSpPr>
          <p:cNvPr id="91" name="brule 91"/>
          <p:cNvSpPr/>
          <p:nvPr/>
        </p:nvSpPr>
        <p:spPr>
          <a:xfrm>
            <a:off x="6515100" y="4438396"/>
            <a:ext cx="5232400" cy="1270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text 92"/>
          <p:cNvSpPr txBox="1"/>
          <p:nvPr/>
        </p:nvSpPr>
        <p:spPr>
          <a:xfrm>
            <a:off x="6515100" y="4565396"/>
            <a:ext cx="52705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Measured as the pilot runs, not asserted here: face coverage per inspection, abstention rate by reason</a:t>
            </a:r>
          </a:p>
          <a:p>
            <a:pPr algn="l">
              <a:lnSpc>
                <a:spcPct val="130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code, and the share of findings with a complete evidence chain.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6515100" y="5073396"/>
            <a:ext cx="5270500" cy="212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IN" sz="880" b="0" dirty="0">
                <a:solidFill>
                  <a:srgbClr val="5A6672"/>
                </a:solidFill>
                <a:latin typeface="Arial"/>
                <a:cs typeface="Arial"/>
              </a:rPr>
              <a:t>No time-saving, accuracy or cost figure is claimed: none has been measured in the field yet.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hrome title 2"/>
          <p:cNvSpPr txBox="1"/>
          <p:nvPr/>
        </p:nvSpPr>
        <p:spPr>
          <a:xfrm>
            <a:off x="1498600" y="254000"/>
            <a:ext cx="8928100" cy="587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2500" b="1" dirty="0">
                <a:solidFill>
                  <a:srgbClr val="1F4E79"/>
                </a:solidFill>
                <a:latin typeface="Times New Roman"/>
                <a:cs typeface="Times New Roman"/>
              </a:rPr>
              <a:t>RESEARCH AND REFERENCES</a:t>
            </a:r>
          </a:p>
        </p:txBody>
      </p:sp>
      <p:sp>
        <p:nvSpPr>
          <p:cNvPr id="3" name="chrome rule 3"/>
          <p:cNvSpPr/>
          <p:nvPr/>
        </p:nvSpPr>
        <p:spPr>
          <a:xfrm>
            <a:off x="1498600" y="685800"/>
            <a:ext cx="8890000" cy="177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hrome team badge 4"/>
          <p:cNvSpPr/>
          <p:nvPr/>
        </p:nvSpPr>
        <p:spPr>
          <a:xfrm>
            <a:off x="254000" y="152400"/>
            <a:ext cx="1066800" cy="584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txBody>
          <a:bodyPr/>
          <a:lstStyle/>
          <a:p/>
        </p:txBody>
      </p:sp>
      <p:sp>
        <p:nvSpPr>
          <p:cNvPr id="5" name="chrome team 5"/>
          <p:cNvSpPr txBox="1"/>
          <p:nvPr/>
        </p:nvSpPr>
        <p:spPr>
          <a:xfrm>
            <a:off x="254000" y="317500"/>
            <a:ext cx="1104900" cy="2232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950" b="1" dirty="0">
                <a:solidFill>
                  <a:srgbClr val="1F4E79"/>
                </a:solidFill>
                <a:latin typeface="Arial"/>
                <a:cs typeface="Arial"/>
              </a:rPr>
              <a:t>NiyamDrishti</a:t>
            </a:r>
          </a:p>
        </p:txBody>
      </p:sp>
      <p:sp>
        <p:nvSpPr>
          <p:cNvPr id="6" name="chrome footer 6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hrome foot text 7"/>
          <p:cNvSpPr txBox="1"/>
          <p:nvPr/>
        </p:nvSpPr>
        <p:spPr>
          <a:xfrm>
            <a:off x="0" y="6642100"/>
            <a:ext cx="12230100" cy="1997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IN" sz="850" b="0" dirty="0">
                <a:solidFill>
                  <a:srgbClr val="FFFFFF"/>
                </a:solidFill>
                <a:latin typeface="Arial"/>
                <a:cs typeface="Arial"/>
              </a:rPr>
              <a:t>@SIH Idea submission- Template</a:t>
            </a:r>
          </a:p>
        </p:txBody>
      </p:sp>
      <p:sp>
        <p:nvSpPr>
          <p:cNvPr id="8" name="chrome page 8"/>
          <p:cNvSpPr txBox="1"/>
          <p:nvPr/>
        </p:nvSpPr>
        <p:spPr>
          <a:xfrm>
            <a:off x="11760200" y="6642100"/>
            <a:ext cx="292100" cy="2114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lang="en-IN" sz="9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9" name="chrome mark rule 9"/>
          <p:cNvSpPr/>
          <p:nvPr/>
        </p:nvSpPr>
        <p:spPr>
          <a:xfrm>
            <a:off x="9855200" y="203200"/>
            <a:ext cx="17780" cy="533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chrome mark1 10"/>
          <p:cNvSpPr txBox="1"/>
          <p:nvPr/>
        </p:nvSpPr>
        <p:spPr>
          <a:xfrm>
            <a:off x="10007600" y="2032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5B8DB8"/>
                </a:solidFill>
                <a:latin typeface="Arial"/>
                <a:cs typeface="Arial"/>
              </a:rPr>
              <a:t>SMART INDIA</a:t>
            </a:r>
          </a:p>
        </p:txBody>
      </p:sp>
      <p:sp>
        <p:nvSpPr>
          <p:cNvPr id="11" name="chrome mark2 11"/>
          <p:cNvSpPr txBox="1"/>
          <p:nvPr/>
        </p:nvSpPr>
        <p:spPr>
          <a:xfrm>
            <a:off x="10007600" y="3810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HACKATHON</a:t>
            </a:r>
          </a:p>
        </p:txBody>
      </p:sp>
      <p:sp>
        <p:nvSpPr>
          <p:cNvPr id="12" name="chrome mark3 12"/>
          <p:cNvSpPr txBox="1"/>
          <p:nvPr/>
        </p:nvSpPr>
        <p:spPr>
          <a:xfrm>
            <a:off x="10007600" y="558800"/>
            <a:ext cx="2070100" cy="293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250" b="1" dirty="0">
                <a:solidFill>
                  <a:srgbClr val="1F4E79"/>
                </a:solidFill>
                <a:latin typeface="Arial"/>
                <a:cs typeface="Arial"/>
              </a:rPr>
              <a:t>2026</a:t>
            </a:r>
          </a:p>
        </p:txBody>
      </p:sp>
      <p:sp>
        <p:nvSpPr>
          <p:cNvPr id="13" name="panel 13"/>
          <p:cNvSpPr/>
          <p:nvPr/>
        </p:nvSpPr>
        <p:spPr>
          <a:xfrm>
            <a:off x="279400" y="787400"/>
            <a:ext cx="5918200" cy="3824376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14" name="panel head 14"/>
          <p:cNvSpPr/>
          <p:nvPr/>
        </p:nvSpPr>
        <p:spPr>
          <a:xfrm>
            <a:off x="279400" y="787400"/>
            <a:ext cx="59182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hd rule 15"/>
          <p:cNvSpPr/>
          <p:nvPr/>
        </p:nvSpPr>
        <p:spPr>
          <a:xfrm>
            <a:off x="279400" y="1080770"/>
            <a:ext cx="59182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419100" y="876300"/>
            <a:ext cx="56769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Regulatory and metrological references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31800" y="1193800"/>
            <a:ext cx="2667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85800" y="1193800"/>
            <a:ext cx="5346700" cy="2148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Legal Metrology (Packaged Commodities) Rules, 2011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85800" y="1356106"/>
            <a:ext cx="5346700" cy="3481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890" b="0" dirty="0">
                <a:solidFill>
                  <a:srgbClr val="333333"/>
                </a:solidFill>
                <a:latin typeface="Arial"/>
                <a:cs typeface="Arial"/>
              </a:rPr>
              <a:t>Mandatory declarations on pre-packaged commodities, and their size and legibility. Department of</a:t>
            </a:r>
          </a:p>
          <a:p>
            <a:pPr algn="l">
              <a:lnSpc>
                <a:spcPct val="124000"/>
              </a:lnSpc>
            </a:pPr>
            <a:r>
              <a:rPr lang="en-IN" sz="890" b="0" dirty="0">
                <a:solidFill>
                  <a:srgbClr val="333333"/>
                </a:solidFill>
                <a:latin typeface="Arial"/>
                <a:cs typeface="Arial"/>
              </a:rPr>
              <a:t>Consumer Affairs.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85800" y="1655470"/>
            <a:ext cx="5346700" cy="194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850" b="0" dirty="0">
                <a:solidFill>
                  <a:srgbClr val="2E75B6"/>
                </a:solidFill>
                <a:latin typeface="Arial"/>
                <a:cs typeface="Arial"/>
              </a:rPr>
              <a:t>consumeraffairs.nic.in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31800" y="1880260"/>
            <a:ext cx="2667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85800" y="1880260"/>
            <a:ext cx="5346700" cy="2148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Legal Metrology Act, 2009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85800" y="2042566"/>
            <a:ext cx="5346700" cy="207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890" b="0" dirty="0">
                <a:solidFill>
                  <a:srgbClr val="333333"/>
                </a:solidFill>
                <a:latin typeface="Arial"/>
                <a:cs typeface="Arial"/>
              </a:rPr>
              <a:t>Enabling statute for the Rules and for enforcement powers.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85800" y="2201774"/>
            <a:ext cx="5346700" cy="194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850" b="0" dirty="0">
                <a:solidFill>
                  <a:srgbClr val="2E75B6"/>
                </a:solidFill>
                <a:latin typeface="Arial"/>
                <a:cs typeface="Arial"/>
              </a:rPr>
              <a:t>consumeraffairs.nic.in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31800" y="2426564"/>
            <a:ext cx="2667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85800" y="2426564"/>
            <a:ext cx="5346700" cy="2148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Consolidated Rules text used to build the rule model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85800" y="2588870"/>
            <a:ext cx="5346700" cy="207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890" b="0" dirty="0">
                <a:solidFill>
                  <a:srgbClr val="333333"/>
                </a:solidFill>
                <a:latin typeface="Arial"/>
                <a:cs typeface="Arial"/>
              </a:rPr>
              <a:t>The 2011 Rules with amendments, as hosted for public reference.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85800" y="2748077"/>
            <a:ext cx="5346700" cy="194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850" b="0" dirty="0">
                <a:solidFill>
                  <a:srgbClr val="2E75B6"/>
                </a:solidFill>
                <a:latin typeface="Arial"/>
                <a:cs typeface="Arial"/>
              </a:rPr>
              <a:t>bombayhighcourt.gov.in/bhc/libweb/legislation/rulec/LegalMetrologyPackagedCommoditiesRules,2011.pdf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431800" y="2972867"/>
            <a:ext cx="2667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685800" y="2972867"/>
            <a:ext cx="5346700" cy="2148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OIML R 79 — Labelling requirements for prepackaged products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85800" y="3135173"/>
            <a:ext cx="5346700" cy="207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890" b="0" dirty="0">
                <a:solidFill>
                  <a:srgbClr val="333333"/>
                </a:solidFill>
                <a:latin typeface="Arial"/>
                <a:cs typeface="Arial"/>
              </a:rPr>
              <a:t>International reference for declaration and legibility requirements.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85800" y="3294380"/>
            <a:ext cx="5346700" cy="194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850" b="0" dirty="0">
                <a:solidFill>
                  <a:srgbClr val="2E75B6"/>
                </a:solidFill>
                <a:latin typeface="Arial"/>
                <a:cs typeface="Arial"/>
              </a:rPr>
              <a:t>oiml.org/en/publications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31800" y="3519170"/>
            <a:ext cx="2667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5.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85800" y="3519170"/>
            <a:ext cx="5346700" cy="2148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JCGM 100:2008 (GUM) — Evaluation of measurement data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685800" y="3681476"/>
            <a:ext cx="5346700" cy="207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890" b="0" dirty="0">
                <a:solidFill>
                  <a:srgbClr val="333333"/>
                </a:solidFill>
                <a:latin typeface="Arial"/>
                <a:cs typeface="Arial"/>
              </a:rPr>
              <a:t>The method used for the component uncertainty budget and coverage factor.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85800" y="3840683"/>
            <a:ext cx="5346700" cy="194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850" b="0" dirty="0">
                <a:solidFill>
                  <a:srgbClr val="2E75B6"/>
                </a:solidFill>
                <a:latin typeface="Arial"/>
                <a:cs typeface="Arial"/>
              </a:rPr>
              <a:t>bipm.org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431800" y="4065473"/>
            <a:ext cx="2667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6.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85800" y="4065473"/>
            <a:ext cx="5346700" cy="2148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Problem statement SIH26034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85800" y="4227779"/>
            <a:ext cx="5346700" cy="207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lang="en-IN" sz="890" b="0" dirty="0">
                <a:solidFill>
                  <a:srgbClr val="333333"/>
                </a:solidFill>
                <a:latin typeface="Arial"/>
                <a:cs typeface="Arial"/>
              </a:rPr>
              <a:t>Ministry of Consumer Affairs, Food &amp; Public Distribution — Department of Consumer Affairs.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85800" y="4386986"/>
            <a:ext cx="5346700" cy="194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IN" sz="850" b="0" dirty="0">
                <a:solidFill>
                  <a:srgbClr val="2E75B6"/>
                </a:solidFill>
                <a:latin typeface="Arial"/>
                <a:cs typeface="Arial"/>
              </a:rPr>
              <a:t>sih.gov.in</a:t>
            </a:r>
          </a:p>
        </p:txBody>
      </p:sp>
      <p:sp>
        <p:nvSpPr>
          <p:cNvPr id="41" name="panel 41"/>
          <p:cNvSpPr/>
          <p:nvPr/>
        </p:nvSpPr>
        <p:spPr>
          <a:xfrm>
            <a:off x="279400" y="4764176"/>
            <a:ext cx="5918200" cy="1172972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42" name="panel head 42"/>
          <p:cNvSpPr/>
          <p:nvPr/>
        </p:nvSpPr>
        <p:spPr>
          <a:xfrm>
            <a:off x="279400" y="4764176"/>
            <a:ext cx="59182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hd rule 43"/>
          <p:cNvSpPr/>
          <p:nvPr/>
        </p:nvSpPr>
        <p:spPr>
          <a:xfrm>
            <a:off x="279400" y="5057546"/>
            <a:ext cx="59182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419100" y="4853076"/>
            <a:ext cx="56769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The open question we do not paper over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457200" y="5145176"/>
            <a:ext cx="11557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Open question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676400" y="5145176"/>
            <a:ext cx="4381500" cy="356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which glyphs and faces the rule counts, and whether ink extent is the right reading of</a:t>
            </a:r>
          </a:p>
          <a:p>
            <a:pPr algn="l">
              <a:lnSpc>
                <a:spcPct val="126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letter height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457200" y="5509412"/>
            <a:ext cx="1155700" cy="2208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40" b="1" dirty="0">
                <a:solidFill>
                  <a:srgbClr val="1F4E79"/>
                </a:solidFill>
                <a:latin typeface="Arial"/>
                <a:cs typeface="Arial"/>
              </a:rPr>
              <a:t>Our position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676400" y="5509412"/>
            <a:ext cx="4381500" cy="356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documented as a screening proxy with a configurable threshold per rule version, to be</a:t>
            </a:r>
          </a:p>
          <a:p>
            <a:pPr algn="l">
              <a:lnSpc>
                <a:spcPct val="126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confirmed with the administering authority before any compliance wording is finalised</a:t>
            </a:r>
          </a:p>
        </p:txBody>
      </p:sp>
      <p:sp>
        <p:nvSpPr>
          <p:cNvPr id="49" name="panel 49"/>
          <p:cNvSpPr/>
          <p:nvPr/>
        </p:nvSpPr>
        <p:spPr>
          <a:xfrm>
            <a:off x="6350000" y="787400"/>
            <a:ext cx="5562600" cy="3191866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50" name="panel head 50"/>
          <p:cNvSpPr/>
          <p:nvPr/>
        </p:nvSpPr>
        <p:spPr>
          <a:xfrm>
            <a:off x="6350000" y="787400"/>
            <a:ext cx="55626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hd rule 51"/>
          <p:cNvSpPr/>
          <p:nvPr/>
        </p:nvSpPr>
        <p:spPr>
          <a:xfrm>
            <a:off x="6350000" y="1080770"/>
            <a:ext cx="55626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 52"/>
          <p:cNvSpPr txBox="1"/>
          <p:nvPr/>
        </p:nvSpPr>
        <p:spPr>
          <a:xfrm>
            <a:off x="6489700" y="876300"/>
            <a:ext cx="53213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Our own engineering evidence (this project)</a:t>
            </a:r>
          </a:p>
        </p:txBody>
      </p:sp>
      <p:sp>
        <p:nvSpPr>
          <p:cNvPr id="53" name="otick 53"/>
          <p:cNvSpPr/>
          <p:nvPr/>
        </p:nvSpPr>
        <p:spPr>
          <a:xfrm>
            <a:off x="6515100" y="1234440"/>
            <a:ext cx="40640" cy="12065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text 54"/>
          <p:cNvSpPr txBox="1"/>
          <p:nvPr/>
        </p:nvSpPr>
        <p:spPr>
          <a:xfrm>
            <a:off x="6629400" y="1209040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Frozen protocol and criteria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6629400" y="1386840"/>
            <a:ext cx="5143500" cy="3645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20" b="0" dirty="0">
                <a:solidFill>
                  <a:srgbClr val="333333"/>
                </a:solidFill>
                <a:latin typeface="Arial"/>
                <a:cs typeface="Arial"/>
              </a:rPr>
              <a:t>P0_PROTOCOL.md and P0_CRITERIA.md — the capture protocol and the pre-registered P1–P7</a:t>
            </a:r>
          </a:p>
          <a:p>
            <a:pPr algn="l">
              <a:lnSpc>
                <a:spcPct val="126000"/>
              </a:lnSpc>
            </a:pPr>
            <a:r>
              <a:rPr lang="en-IN" sz="920" b="0" dirty="0">
                <a:solidFill>
                  <a:srgbClr val="333333"/>
                </a:solidFill>
                <a:latin typeface="Arial"/>
                <a:cs typeface="Arial"/>
              </a:rPr>
              <a:t>acceptance bands.</a:t>
            </a:r>
          </a:p>
        </p:txBody>
      </p:sp>
      <p:sp>
        <p:nvSpPr>
          <p:cNvPr id="56" name="otick 56"/>
          <p:cNvSpPr/>
          <p:nvPr/>
        </p:nvSpPr>
        <p:spPr>
          <a:xfrm>
            <a:off x="6515100" y="1813357"/>
            <a:ext cx="40640" cy="12065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6629400" y="1787957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Independent reference method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6629400" y="1965757"/>
            <a:ext cx="5143500" cy="3645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20" b="0" dirty="0">
                <a:solidFill>
                  <a:srgbClr val="333333"/>
                </a:solidFill>
                <a:latin typeface="Arial"/>
                <a:cs typeface="Arial"/>
              </a:rPr>
              <a:t>P0_REFERENCE_PROCEDURE.md — scanner-primary, microscope cross-check, and the</a:t>
            </a:r>
          </a:p>
          <a:p>
            <a:pPr algn="l">
              <a:lnSpc>
                <a:spcPct val="126000"/>
              </a:lnSpc>
            </a:pPr>
            <a:r>
              <a:rPr lang="en-IN" sz="920" b="0" dirty="0">
                <a:solidFill>
                  <a:srgbClr val="333333"/>
                </a:solidFill>
                <a:latin typeface="Arial"/>
                <a:cs typeface="Arial"/>
              </a:rPr>
              <a:t>independence rules between them.</a:t>
            </a:r>
          </a:p>
        </p:txBody>
      </p:sp>
      <p:sp>
        <p:nvSpPr>
          <p:cNvPr id="59" name="otick 59"/>
          <p:cNvSpPr/>
          <p:nvPr/>
        </p:nvSpPr>
        <p:spPr>
          <a:xfrm>
            <a:off x="6515100" y="2392274"/>
            <a:ext cx="40640" cy="12065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6629400" y="2366874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Pre-registered coverage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6629400" y="2544674"/>
            <a:ext cx="5143500" cy="3645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20" b="0" dirty="0">
                <a:solidFill>
                  <a:srgbClr val="333333"/>
                </a:solidFill>
                <a:latin typeface="Arial"/>
                <a:cs typeface="Arial"/>
              </a:rPr>
              <a:t>glyph_map.json, 400 glyph instances; glyph_selection.json, 20 panels — both derived by rule and</a:t>
            </a:r>
          </a:p>
          <a:p>
            <a:pPr algn="l">
              <a:lnSpc>
                <a:spcPct val="126000"/>
              </a:lnSpc>
            </a:pPr>
            <a:r>
              <a:rPr lang="en-IN" sz="920" b="0" dirty="0">
                <a:solidFill>
                  <a:srgbClr val="333333"/>
                </a:solidFill>
                <a:latin typeface="Arial"/>
                <a:cs typeface="Arial"/>
              </a:rPr>
              <a:t>hash-checked.</a:t>
            </a:r>
          </a:p>
        </p:txBody>
      </p:sp>
      <p:sp>
        <p:nvSpPr>
          <p:cNvPr id="62" name="otick 62"/>
          <p:cNvSpPr/>
          <p:nvPr/>
        </p:nvSpPr>
        <p:spPr>
          <a:xfrm>
            <a:off x="6515100" y="2971190"/>
            <a:ext cx="40640" cy="12065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6629400" y="2945790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Readiness audits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6629400" y="3123590"/>
            <a:ext cx="5143500" cy="2173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20" b="0" dirty="0">
                <a:solidFill>
                  <a:srgbClr val="333333"/>
                </a:solidFill>
                <a:latin typeface="Arial"/>
                <a:cs typeface="Arial"/>
              </a:rPr>
              <a:t>Reference setup, flatness control and equipment inventory, each with a machine-checked gate.</a:t>
            </a:r>
          </a:p>
        </p:txBody>
      </p:sp>
      <p:sp>
        <p:nvSpPr>
          <p:cNvPr id="65" name="otick 65"/>
          <p:cNvSpPr/>
          <p:nvPr/>
        </p:nvSpPr>
        <p:spPr>
          <a:xfrm>
            <a:off x="6515100" y="3402889"/>
            <a:ext cx="40640" cy="12065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text 66"/>
          <p:cNvSpPr txBox="1"/>
          <p:nvPr/>
        </p:nvSpPr>
        <p:spPr>
          <a:xfrm>
            <a:off x="6629400" y="3377489"/>
            <a:ext cx="5143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1F4E79"/>
                </a:solidFill>
                <a:latin typeface="Arial"/>
                <a:cs typeface="Arial"/>
              </a:rPr>
              <a:t>Reference implementation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6629400" y="3555289"/>
            <a:ext cx="5143500" cy="3645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lang="en-IN" sz="920" b="0" dirty="0">
                <a:solidFill>
                  <a:srgbClr val="333333"/>
                </a:solidFill>
                <a:latin typeface="Arial"/>
                <a:cs typeface="Arial"/>
              </a:rPr>
              <a:t>Pure-Python measurement engine, a 76-run synthetic benchmark with its analysis output, and 352</a:t>
            </a:r>
          </a:p>
          <a:p>
            <a:pPr algn="l">
              <a:lnSpc>
                <a:spcPct val="126000"/>
              </a:lnSpc>
            </a:pPr>
            <a:r>
              <a:rPr lang="en-IN" sz="920" b="0" dirty="0">
                <a:solidFill>
                  <a:srgbClr val="333333"/>
                </a:solidFill>
                <a:latin typeface="Arial"/>
                <a:cs typeface="Arial"/>
              </a:rPr>
              <a:t>automated tests.</a:t>
            </a:r>
          </a:p>
        </p:txBody>
      </p:sp>
      <p:sp>
        <p:nvSpPr>
          <p:cNvPr id="68" name="panel 68"/>
          <p:cNvSpPr/>
          <p:nvPr/>
        </p:nvSpPr>
        <p:spPr>
          <a:xfrm>
            <a:off x="6350000" y="4131666"/>
            <a:ext cx="5562600" cy="2184400"/>
          </a:xfrm>
          <a:prstGeom prst="roundRect">
            <a:avLst/>
          </a:prstGeom>
          <a:solidFill>
            <a:srgbClr val="F6F9FC"/>
          </a:solidFill>
          <a:ln w="11430">
            <a:solidFill>
              <a:srgbClr val="C3D4E4"/>
            </a:solidFill>
          </a:ln>
        </p:spPr>
        <p:txBody>
          <a:bodyPr/>
          <a:lstStyle/>
          <a:p/>
        </p:txBody>
      </p:sp>
      <p:sp>
        <p:nvSpPr>
          <p:cNvPr id="69" name="panel head 69"/>
          <p:cNvSpPr/>
          <p:nvPr/>
        </p:nvSpPr>
        <p:spPr>
          <a:xfrm>
            <a:off x="6350000" y="4131666"/>
            <a:ext cx="5562600" cy="3048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hd rule 70"/>
          <p:cNvSpPr/>
          <p:nvPr/>
        </p:nvSpPr>
        <p:spPr>
          <a:xfrm>
            <a:off x="6350000" y="4425036"/>
            <a:ext cx="5562600" cy="1143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ext 71"/>
          <p:cNvSpPr txBox="1"/>
          <p:nvPr/>
        </p:nvSpPr>
        <p:spPr>
          <a:xfrm>
            <a:off x="6489700" y="4220566"/>
            <a:ext cx="5321300" cy="258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1100" b="1" dirty="0">
                <a:solidFill>
                  <a:srgbClr val="1F4E79"/>
                </a:solidFill>
                <a:latin typeface="Arial"/>
                <a:cs typeface="Arial"/>
              </a:rPr>
              <a:t>Repository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6515100" y="4538066"/>
            <a:ext cx="5270500" cy="2302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IN" sz="980" b="1" dirty="0">
                <a:solidFill>
                  <a:srgbClr val="2E75B6"/>
                </a:solidFill>
                <a:latin typeface="Arial"/>
                <a:cs typeface="Arial"/>
              </a:rPr>
              <a:t>github.com/dinamsingh/Setu · branch niyamdrishti-phase0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6515100" y="4766666"/>
            <a:ext cx="52705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Holds the measurement engine, the synthetic benchmark and its analysis output, the frozen protocol</a:t>
            </a:r>
          </a:p>
          <a:p>
            <a:pPr algn="l">
              <a:lnSpc>
                <a:spcPct val="128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and criteria, the pre-registered coverage files, the readiness audits and the test suite. Private repository</a:t>
            </a:r>
          </a:p>
          <a:p>
            <a:pPr algn="l">
              <a:lnSpc>
                <a:spcPct val="128000"/>
              </a:lnSpc>
            </a:pPr>
            <a:r>
              <a:rPr lang="en-IN" sz="900" b="0" dirty="0">
                <a:solidFill>
                  <a:srgbClr val="333333"/>
                </a:solidFill>
                <a:latin typeface="Arial"/>
                <a:cs typeface="Arial"/>
              </a:rPr>
              <a:t>— access on request.</a:t>
            </a:r>
          </a:p>
        </p:txBody>
      </p:sp>
      <p:sp>
        <p:nvSpPr>
          <p:cNvPr id="74" name="rr 74"/>
          <p:cNvSpPr/>
          <p:nvPr/>
        </p:nvSpPr>
        <p:spPr>
          <a:xfrm>
            <a:off x="6515100" y="5604866"/>
            <a:ext cx="5232400" cy="12700"/>
          </a:xfrm>
          <a:prstGeom prst="rect">
            <a:avLst/>
          </a:prstGeom>
          <a:solidFill>
            <a:srgbClr val="C3D4E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ext 75"/>
          <p:cNvSpPr txBox="1"/>
          <p:nvPr/>
        </p:nvSpPr>
        <p:spPr>
          <a:xfrm>
            <a:off x="6515100" y="5731866"/>
            <a:ext cx="5270500" cy="3611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en-IN" sz="900" b="0" dirty="0">
                <a:solidFill>
                  <a:srgbClr val="5A6672"/>
                </a:solidFill>
                <a:latin typeface="Arial"/>
                <a:cs typeface="Arial"/>
              </a:rPr>
              <a:t>Every synthetic figure quoted in this deck is reproducible from the repository. Physical laboratory</a:t>
            </a:r>
          </a:p>
          <a:p>
            <a:pPr algn="l">
              <a:lnSpc>
                <a:spcPct val="128000"/>
              </a:lnSpc>
            </a:pPr>
            <a:r>
              <a:rPr lang="en-IN" sz="900" b="0" dirty="0">
                <a:solidFill>
                  <a:srgbClr val="5A6672"/>
                </a:solidFill>
                <a:latin typeface="Arial"/>
                <a:cs typeface="Arial"/>
              </a:rPr>
              <a:t>validation has not been performed and is not claimed anywhere in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D">
  <a:themeElements>
    <a:clrScheme name="ND">
      <a:dk1>
        <a:srgbClr val="000000"/>
      </a:dk1>
      <a:lt1>
        <a:srgbClr val="FFFFFF"/>
      </a:lt1>
      <a:dk2>
        <a:srgbClr val="1F4E79"/>
      </a:dk2>
      <a:lt2>
        <a:srgbClr val="EEF3F8"/>
      </a:lt2>
      <a:accent1>
        <a:srgbClr val="2E75B6"/>
      </a:accent1>
      <a:accent2>
        <a:srgbClr val="1F4E79"/>
      </a:accent2>
      <a:accent3>
        <a:srgbClr val="C55A11"/>
      </a:accent3>
      <a:accent4>
        <a:srgbClr val="2E7D32"/>
      </a:accent4>
      <a:accent5>
        <a:srgbClr val="8AA9C6"/>
      </a:accent5>
      <a:accent6>
        <a:srgbClr val="7F7F7F"/>
      </a:accent6>
      <a:hlink>
        <a:srgbClr val="1F4E79"/>
      </a:hlink>
      <a:folHlink>
        <a:srgbClr val="7F7F7F"/>
      </a:folHlink>
    </a:clrScheme>
    <a:fontScheme name="ND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N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6</Slides>
</Properties>
</file>

<file path=docProps/core.xml><?xml version="1.0" encoding="utf-8"?>
<cp:coreProperties xmlns:cp="http://schemas.openxmlformats.org/package/2006/metadata/core-properties" xmlns:dc="http://purl.org/dc/elements/1.1/" xmlns:xsi="http://www.w3.org/2001/XMLSchema-instance">
  <dc:title>NiyamDrishti - SIH 2026 (PS SIH26034)</dc:title>
</cp:coreProperties>
</file>